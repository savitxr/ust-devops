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65" r:id="rId16"/>
  </p:sldIdLst>
  <p:sldSz cx="14630400" cy="8229600"/>
  <p:notesSz cx="8229600" cy="14630400"/>
  <p:embeddedFontLst>
    <p:embeddedFont>
      <p:font typeface="Bitter Medium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A3C2D-54AF-41DC-8FAC-6015C68375AC}" v="4" dt="2026-03-23T21:08:18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Babu" userId="d69e471e27916690" providerId="LiveId" clId="{52C0C333-72E3-4FFF-B096-1DD8A0363B5A}"/>
    <pc:docChg chg="addSld modSld sldOrd">
      <pc:chgData name="Abhinav Babu" userId="d69e471e27916690" providerId="LiveId" clId="{52C0C333-72E3-4FFF-B096-1DD8A0363B5A}" dt="2026-03-23T21:09:39.133" v="139" actId="1076"/>
      <pc:docMkLst>
        <pc:docMk/>
      </pc:docMkLst>
      <pc:sldChg chg="addSp modSp new mod ord">
        <pc:chgData name="Abhinav Babu" userId="d69e471e27916690" providerId="LiveId" clId="{52C0C333-72E3-4FFF-B096-1DD8A0363B5A}" dt="2026-03-23T20:17:47.589" v="5"/>
        <pc:sldMkLst>
          <pc:docMk/>
          <pc:sldMk cId="2734312290" sldId="266"/>
        </pc:sldMkLst>
        <pc:picChg chg="add mod">
          <ac:chgData name="Abhinav Babu" userId="d69e471e27916690" providerId="LiveId" clId="{52C0C333-72E3-4FFF-B096-1DD8A0363B5A}" dt="2026-03-23T20:16:57.235" v="1" actId="931"/>
          <ac:picMkLst>
            <pc:docMk/>
            <pc:sldMk cId="2734312290" sldId="266"/>
            <ac:picMk id="3" creationId="{84FB602B-CCF3-28B1-60E3-11FCD0073B33}"/>
          </ac:picMkLst>
        </pc:picChg>
      </pc:sldChg>
      <pc:sldChg chg="addSp modSp new mod">
        <pc:chgData name="Abhinav Babu" userId="d69e471e27916690" providerId="LiveId" clId="{52C0C333-72E3-4FFF-B096-1DD8A0363B5A}" dt="2026-03-23T20:20:35.470" v="56" actId="20577"/>
        <pc:sldMkLst>
          <pc:docMk/>
          <pc:sldMk cId="3630845635" sldId="267"/>
        </pc:sldMkLst>
        <pc:spChg chg="add mod">
          <ac:chgData name="Abhinav Babu" userId="d69e471e27916690" providerId="LiveId" clId="{52C0C333-72E3-4FFF-B096-1DD8A0363B5A}" dt="2026-03-23T20:20:35.470" v="56" actId="20577"/>
          <ac:spMkLst>
            <pc:docMk/>
            <pc:sldMk cId="3630845635" sldId="267"/>
            <ac:spMk id="4" creationId="{6C3685D2-3855-AA31-EEA6-45E9D5CDC897}"/>
          </ac:spMkLst>
        </pc:spChg>
        <pc:picChg chg="add mod">
          <ac:chgData name="Abhinav Babu" userId="d69e471e27916690" providerId="LiveId" clId="{52C0C333-72E3-4FFF-B096-1DD8A0363B5A}" dt="2026-03-23T20:19:26.559" v="9" actId="1076"/>
          <ac:picMkLst>
            <pc:docMk/>
            <pc:sldMk cId="3630845635" sldId="267"/>
            <ac:picMk id="3" creationId="{1B4D3342-54AB-4239-E505-7A8C1BA6DD4D}"/>
          </ac:picMkLst>
        </pc:picChg>
      </pc:sldChg>
      <pc:sldChg chg="addSp modSp new mod">
        <pc:chgData name="Abhinav Babu" userId="d69e471e27916690" providerId="LiveId" clId="{52C0C333-72E3-4FFF-B096-1DD8A0363B5A}" dt="2026-03-23T21:09:25.742" v="138" actId="1076"/>
        <pc:sldMkLst>
          <pc:docMk/>
          <pc:sldMk cId="3953042508" sldId="268"/>
        </pc:sldMkLst>
        <pc:spChg chg="add mod">
          <ac:chgData name="Abhinav Babu" userId="d69e471e27916690" providerId="LiveId" clId="{52C0C333-72E3-4FFF-B096-1DD8A0363B5A}" dt="2026-03-23T21:09:25.742" v="138" actId="1076"/>
          <ac:spMkLst>
            <pc:docMk/>
            <pc:sldMk cId="3953042508" sldId="268"/>
            <ac:spMk id="4" creationId="{CA6E2693-DB7D-3ED5-B45B-C17C96C9DCD1}"/>
          </ac:spMkLst>
        </pc:spChg>
        <pc:picChg chg="add mod">
          <ac:chgData name="Abhinav Babu" userId="d69e471e27916690" providerId="LiveId" clId="{52C0C333-72E3-4FFF-B096-1DD8A0363B5A}" dt="2026-03-23T21:05:26.227" v="62" actId="1076"/>
          <ac:picMkLst>
            <pc:docMk/>
            <pc:sldMk cId="3953042508" sldId="268"/>
            <ac:picMk id="3" creationId="{DEA2F0CE-7A6C-2298-AC64-338711B15105}"/>
          </ac:picMkLst>
        </pc:picChg>
      </pc:sldChg>
      <pc:sldChg chg="addSp modSp new mod">
        <pc:chgData name="Abhinav Babu" userId="d69e471e27916690" providerId="LiveId" clId="{52C0C333-72E3-4FFF-B096-1DD8A0363B5A}" dt="2026-03-23T21:09:39.133" v="139" actId="1076"/>
        <pc:sldMkLst>
          <pc:docMk/>
          <pc:sldMk cId="1751267652" sldId="269"/>
        </pc:sldMkLst>
        <pc:spChg chg="add mod">
          <ac:chgData name="Abhinav Babu" userId="d69e471e27916690" providerId="LiveId" clId="{52C0C333-72E3-4FFF-B096-1DD8A0363B5A}" dt="2026-03-23T21:09:39.133" v="139" actId="1076"/>
          <ac:spMkLst>
            <pc:docMk/>
            <pc:sldMk cId="1751267652" sldId="269"/>
            <ac:spMk id="4" creationId="{EBB8674F-3186-D16E-E8CD-6019BF8AB8F3}"/>
          </ac:spMkLst>
        </pc:spChg>
        <pc:picChg chg="add mod">
          <ac:chgData name="Abhinav Babu" userId="d69e471e27916690" providerId="LiveId" clId="{52C0C333-72E3-4FFF-B096-1DD8A0363B5A}" dt="2026-03-23T21:09:15.019" v="137" actId="1038"/>
          <ac:picMkLst>
            <pc:docMk/>
            <pc:sldMk cId="1751267652" sldId="269"/>
            <ac:picMk id="3" creationId="{A1DC52F4-27E8-F10C-AD06-4B7D1175DF89}"/>
          </ac:picMkLst>
        </pc:picChg>
      </pc:sldChg>
      <pc:sldChg chg="addSp modSp new mod">
        <pc:chgData name="Abhinav Babu" userId="d69e471e27916690" providerId="LiveId" clId="{52C0C333-72E3-4FFF-B096-1DD8A0363B5A}" dt="2026-03-23T21:07:44.777" v="92" actId="1076"/>
        <pc:sldMkLst>
          <pc:docMk/>
          <pc:sldMk cId="3811435552" sldId="270"/>
        </pc:sldMkLst>
        <pc:spChg chg="add mod">
          <ac:chgData name="Abhinav Babu" userId="d69e471e27916690" providerId="LiveId" clId="{52C0C333-72E3-4FFF-B096-1DD8A0363B5A}" dt="2026-03-23T21:07:44.777" v="92" actId="1076"/>
          <ac:spMkLst>
            <pc:docMk/>
            <pc:sldMk cId="3811435552" sldId="270"/>
            <ac:spMk id="4" creationId="{FCE558E2-2B51-0BBE-D57F-310D870A4304}"/>
          </ac:spMkLst>
        </pc:spChg>
        <pc:picChg chg="add mod">
          <ac:chgData name="Abhinav Babu" userId="d69e471e27916690" providerId="LiveId" clId="{52C0C333-72E3-4FFF-B096-1DD8A0363B5A}" dt="2026-03-23T21:06:17.677" v="70" actId="1076"/>
          <ac:picMkLst>
            <pc:docMk/>
            <pc:sldMk cId="3811435552" sldId="270"/>
            <ac:picMk id="3" creationId="{A2ACB455-791A-10E6-CDB3-434F07CD66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09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Kubernetes Gateway API and K-Gateway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API Gateway Concepts: From Gateway API to Production-Ready Solutions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60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is Gateway API?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41784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Problem with Ingress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919180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combines everything—entry points, routing rules, and controller configuration—into a single monolithic resource. This creates tight coupling and limits flexibility.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841784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Gateway API Solution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342721" y="3919180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API introduces a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separation of concerns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splitting responsibilities into distinct, composable resources. Each component has a clear purpose and can be managed independently.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4110"/>
            <a:ext cx="8903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Idea: Separation of Concerns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16518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750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2410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 configuration: ports, protocols, TLS settings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616518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750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HTTPRoute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2410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Routing logic: path matching, header conditions, backend selection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616518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750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GatewayClass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2410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 binding: specifies which controller manages the gateway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448776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AD3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800487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73226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Difference: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Ingress combines all these concerns into a single resource. Gateway API separates them, enabling role-based access control and independent evolution.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666393"/>
            <a:ext cx="11071146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Component Mapping: Ingress vs Gateway API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1045" y="1723192"/>
            <a:ext cx="6475333" cy="2821186"/>
          </a:xfrm>
          <a:prstGeom prst="roundRect">
            <a:avLst>
              <a:gd name="adj" fmla="val 31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0358" y="194250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023" y="2117169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358" y="2775109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GatewayClass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0358" y="3224332"/>
            <a:ext cx="6036707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Equivalent: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IngressClass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358" y="3670221"/>
            <a:ext cx="6036707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which controller implementation manages the gateway resources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3903" y="1723192"/>
            <a:ext cx="6475452" cy="2821186"/>
          </a:xfrm>
          <a:prstGeom prst="roundRect">
            <a:avLst>
              <a:gd name="adj" fmla="val 31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633216" y="194250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7881" y="2117169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3216" y="2775109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33216" y="3224332"/>
            <a:ext cx="603682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Equivalent: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Ingress (entry point)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33216" y="3670221"/>
            <a:ext cx="603682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Configures listening ports, protocols, and TLS certificates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741045" y="4741902"/>
            <a:ext cx="6475333" cy="2821186"/>
          </a:xfrm>
          <a:prstGeom prst="roundRect">
            <a:avLst>
              <a:gd name="adj" fmla="val 31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960358" y="496121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023" y="5135880"/>
            <a:ext cx="285750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358" y="5793819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HTTPRoute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960358" y="6243042"/>
            <a:ext cx="6036707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Equivalent: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Ingress rules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60358" y="6688931"/>
            <a:ext cx="6036707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path-based routing, header matching, and backend references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7413903" y="4741902"/>
            <a:ext cx="6475452" cy="2821186"/>
          </a:xfrm>
          <a:prstGeom prst="roundRect">
            <a:avLst>
              <a:gd name="adj" fmla="val 31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633216" y="4961215"/>
            <a:ext cx="635079" cy="635079"/>
          </a:xfrm>
          <a:prstGeom prst="roundRect">
            <a:avLst>
              <a:gd name="adj" fmla="val 1439676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07881" y="5135880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33216" y="5793819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Controller</a:t>
            </a:r>
            <a:endParaRPr lang="en-US" sz="2050" dirty="0"/>
          </a:p>
        </p:txBody>
      </p:sp>
      <p:sp>
        <p:nvSpPr>
          <p:cNvPr id="25" name="Text 19"/>
          <p:cNvSpPr/>
          <p:nvPr/>
        </p:nvSpPr>
        <p:spPr>
          <a:xfrm>
            <a:off x="7633216" y="6243042"/>
            <a:ext cx="603682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Equivalent: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Same concept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633216" y="6688931"/>
            <a:ext cx="6036826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(Envoy, NGINX, HAProxy) that watches resources and configures load balancers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B602B-CCF3-28B1-60E3-11FCD007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34112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1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992" y="723424"/>
            <a:ext cx="6037898" cy="62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Request Flow Comparison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6992" y="1782842"/>
            <a:ext cx="298739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Ingress Flow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696992" y="2352913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6992" y="2668429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96992" y="2813685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Request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6992" y="3436977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6992" y="3752493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6992" y="3897749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 Controller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6992" y="4521041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6992" y="4836557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6992" y="4981813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6992" y="5605105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6992" y="5920621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6992" y="6065877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5708" y="1782842"/>
            <a:ext cx="298739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 API Flow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7565708" y="2352913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65708" y="2668429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65708" y="2813685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Request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5708" y="3436977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65708" y="3752493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565708" y="3897749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65708" y="4521041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565708" y="4836557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65708" y="4981813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HTTPRoute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65708" y="5605105"/>
            <a:ext cx="1990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565708" y="5920621"/>
            <a:ext cx="6375321" cy="2286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565708" y="6065877"/>
            <a:ext cx="637532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→ Pod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6992" y="6907768"/>
            <a:ext cx="13236416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API's modular flow enables </a:t>
            </a: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fine-grained control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each stage. HTTPRoute can be updated independently without touching Gateway configuration.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D3342-54AB-4239-E505-7A8C1BA6D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36" y="1677512"/>
            <a:ext cx="8945223" cy="5620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3685D2-3855-AA31-EEA6-45E9D5CDC897}"/>
              </a:ext>
            </a:extLst>
          </p:cNvPr>
          <p:cNvSpPr txBox="1"/>
          <p:nvPr/>
        </p:nvSpPr>
        <p:spPr>
          <a:xfrm>
            <a:off x="914400" y="577611"/>
            <a:ext cx="75120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TLS TERMINATION IN GATEWAY API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3084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1003459"/>
            <a:ext cx="4412337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YAML Examples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26106" y="189821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GatewayClass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26106" y="2328386"/>
            <a:ext cx="3771900" cy="2611755"/>
          </a:xfrm>
          <a:prstGeom prst="roundRect">
            <a:avLst>
              <a:gd name="adj" fmla="val 2838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17295" y="2328386"/>
            <a:ext cx="3789521" cy="2611755"/>
          </a:xfrm>
          <a:prstGeom prst="roundRect">
            <a:avLst>
              <a:gd name="adj" fmla="val 1014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37799" y="2504837"/>
            <a:ext cx="3348514" cy="22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gateway.networking.k8s.io/v1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kind: GatewayClass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envoy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controllerName: gateway.envoyproxy.io/gatewayclass-controller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26106" y="5094565"/>
            <a:ext cx="377190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 to ingressClassName field in Ingress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36156" y="189821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36156" y="2328386"/>
            <a:ext cx="3771900" cy="2862739"/>
          </a:xfrm>
          <a:prstGeom prst="roundRect">
            <a:avLst>
              <a:gd name="adj" fmla="val 2589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27345" y="2328386"/>
            <a:ext cx="3789521" cy="2862739"/>
          </a:xfrm>
          <a:prstGeom prst="roundRect">
            <a:avLst>
              <a:gd name="adj" fmla="val 925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47849" y="2504837"/>
            <a:ext cx="3348514" cy="25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gateway.networking.k8s.io/v1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kind: Gateway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my-gateway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gatewayClassName: envoy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listeners: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protocol: HTTP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80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36156" y="5345549"/>
            <a:ext cx="377190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entry point, like Ingress host rules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46206" y="189821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HTTPRoute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6206" y="2328386"/>
            <a:ext cx="3771900" cy="4368641"/>
          </a:xfrm>
          <a:prstGeom prst="roundRect">
            <a:avLst>
              <a:gd name="adj" fmla="val 1965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637395" y="2328386"/>
            <a:ext cx="3789521" cy="4368641"/>
          </a:xfrm>
          <a:prstGeom prst="roundRect">
            <a:avLst>
              <a:gd name="adj" fmla="val 699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57899" y="2504837"/>
            <a:ext cx="3348514" cy="401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gateway.networking.k8s.io/v1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kind: HTTPRoute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my-route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parentRefs: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my-gateway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- matches: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- path: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PathPrefix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value: /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backendRefs: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frontend</a:t>
            </a:r>
            <a:endParaRPr lang="en-US" sz="135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5CC5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80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46206" y="6851452"/>
            <a:ext cx="377190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routing rules from Ingress spec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605"/>
            <a:ext cx="6051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 API vs Ingress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3012"/>
            <a:ext cx="13042821" cy="5005864"/>
          </a:xfrm>
          <a:prstGeom prst="roundRect">
            <a:avLst>
              <a:gd name="adj" fmla="val 190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1410" y="220063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9653" y="234434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234434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234434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API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850952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9653" y="29946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299466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Monolithic resource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29946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 components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501271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9653" y="36449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364497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path/host matching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3644979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Advanced: headers, methods, query params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514493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29653" y="465820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Separation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465820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 - all in one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4658201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Clear: GatewayClass, Gateway, Route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527715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29653" y="567142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077" y="567142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Controller-dependent annotations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6691" y="5671423"/>
            <a:ext cx="38841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API with vendor extensions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540937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9653" y="668464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Extensibility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077" y="668464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Annotations (non-standard)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6691" y="668464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filters and extensions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591" y="659011"/>
            <a:ext cx="7607618" cy="1371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 to K-Gateway (API Gateway)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4591" y="2561868"/>
            <a:ext cx="3117413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is an API Gateway?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254591" y="3117294"/>
            <a:ext cx="3536037" cy="24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specialized server that sits between clients and microservices, providing unified entry point with advanced features like authentication, rate limiting, and request transformation.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3792" y="2561868"/>
            <a:ext cx="3302556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Popular Implementations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333792" y="3117294"/>
            <a:ext cx="3536037" cy="187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Kong: Extensible, plugin-based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Envoy: High-performance proxy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NGINX Plus: Enterprise features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54591" y="5965984"/>
            <a:ext cx="7607618" cy="1604486"/>
          </a:xfrm>
          <a:prstGeom prst="roundRect">
            <a:avLst>
              <a:gd name="adj" fmla="val 5746"/>
            </a:avLst>
          </a:prstGeom>
          <a:solidFill>
            <a:srgbClr val="FAD3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023" y="6307217"/>
            <a:ext cx="274320" cy="2194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67776" y="6233160"/>
            <a:ext cx="6675001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Distinction:</a:t>
            </a: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Gateway API is a </a:t>
            </a:r>
            <a:r>
              <a:rPr lang="en-US" sz="1700" b="1" dirty="0">
                <a:solidFill>
                  <a:srgbClr val="373B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</a:t>
            </a: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K-Gateway (like Kong) is a </a:t>
            </a:r>
            <a:r>
              <a:rPr lang="en-US" sz="1700" b="1" dirty="0">
                <a:solidFill>
                  <a:srgbClr val="373B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implementation</a:t>
            </a: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can use Gateway API resources.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873"/>
            <a:ext cx="8439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Advanced API Gateway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240280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240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2730698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JSON Web Tokens before forwarding requests. Extract user identity and permissions from token claims for authorization.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240280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240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Rate Limiting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2730698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request rates per client or endpoint. Prevent abuse and ensure fair resource allocation across services.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24028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240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Request Filters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2730698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Modify headers, rewrite URLs, redirect requests. Transform requests/responses without changing service code.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48003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5155406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793790" y="532971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Request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5216962" y="48003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5216962" y="5155406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216962" y="532971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→ Auth Filter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40133" y="48003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9640133" y="5155406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9640133" y="532971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Limit Check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793790" y="60894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2" name="Shape 17"/>
          <p:cNvSpPr/>
          <p:nvPr/>
        </p:nvSpPr>
        <p:spPr>
          <a:xfrm>
            <a:off x="793790" y="6444496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93790" y="661880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Modification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7428548" y="60894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5" name="Shape 20"/>
          <p:cNvSpPr/>
          <p:nvPr/>
        </p:nvSpPr>
        <p:spPr>
          <a:xfrm>
            <a:off x="7428548" y="6444496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7428548" y="661880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→ Pod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2F0CE-7A6C-2298-AC64-338711B15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58" y="721895"/>
            <a:ext cx="10178716" cy="67858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6E2693-DB7D-3ED5-B45B-C17C96C9DCD1}"/>
              </a:ext>
            </a:extLst>
          </p:cNvPr>
          <p:cNvSpPr txBox="1"/>
          <p:nvPr/>
        </p:nvSpPr>
        <p:spPr>
          <a:xfrm>
            <a:off x="5492416" y="929806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REQUEST FILTER</a:t>
            </a:r>
            <a:endParaRPr lang="en-IN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04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C52F4-27E8-F10C-AD06-4B7D1175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79" y="433137"/>
            <a:ext cx="10708105" cy="7138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B8674F-3186-D16E-E8CD-6019BF8AB8F3}"/>
              </a:ext>
            </a:extLst>
          </p:cNvPr>
          <p:cNvSpPr txBox="1"/>
          <p:nvPr/>
        </p:nvSpPr>
        <p:spPr>
          <a:xfrm>
            <a:off x="6675322" y="657726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JWT</a:t>
            </a:r>
            <a:endParaRPr lang="en-IN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267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CB455-791A-10E6-CDB3-434F07CD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642" y="433136"/>
            <a:ext cx="10792326" cy="7194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E558E2-2B51-0BBE-D57F-310D870A4304}"/>
              </a:ext>
            </a:extLst>
          </p:cNvPr>
          <p:cNvSpPr txBox="1"/>
          <p:nvPr/>
        </p:nvSpPr>
        <p:spPr>
          <a:xfrm>
            <a:off x="5943286" y="6679213"/>
            <a:ext cx="2743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RATE LIMITER</a:t>
            </a:r>
            <a:endParaRPr lang="en-IN" sz="3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35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057" y="878681"/>
            <a:ext cx="4629031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8057" y="1684020"/>
            <a:ext cx="7847886" cy="1303377"/>
          </a:xfrm>
          <a:prstGeom prst="roundRect">
            <a:avLst>
              <a:gd name="adj" fmla="val 5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40819" y="1876782"/>
            <a:ext cx="35337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Gateway API Separates Concerns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0819" y="2256711"/>
            <a:ext cx="746236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GatewayClass, Gateway, and HTTPRoute are distinct resources, enabling role-based access and independent evolution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8057" y="3138488"/>
            <a:ext cx="7847886" cy="1303377"/>
          </a:xfrm>
          <a:prstGeom prst="roundRect">
            <a:avLst>
              <a:gd name="adj" fmla="val 5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40819" y="3331250"/>
            <a:ext cx="322623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Ingress is Simpler but Limited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0819" y="3711178"/>
            <a:ext cx="746236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Monolithic resources work for basic use cases but lack advanced routing and extensibility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8057" y="4592955"/>
            <a:ext cx="7847886" cy="1303377"/>
          </a:xfrm>
          <a:prstGeom prst="roundRect">
            <a:avLst>
              <a:gd name="adj" fmla="val 5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40819" y="4785717"/>
            <a:ext cx="417409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API Gateway Adds Production Features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0819" y="5165646"/>
            <a:ext cx="746236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auth, rate limiting, and filters transform Gateway API from routing to full API management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8057" y="6047422"/>
            <a:ext cx="7847886" cy="1303377"/>
          </a:xfrm>
          <a:prstGeom prst="roundRect">
            <a:avLst>
              <a:gd name="adj" fmla="val 59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40819" y="6240185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Together They Scale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40819" y="6620113"/>
            <a:ext cx="746236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API provides standard routing. API Gateway implementations like Kong add enterprise features for production systems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756</Words>
  <Application>Microsoft Office PowerPoint</Application>
  <PresentationFormat>Custom</PresentationFormat>
  <Paragraphs>152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Bitter Medium</vt:lpstr>
      <vt:lpstr>Consolas</vt:lpstr>
      <vt:lpstr>Bitter Light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Abhinav Babu</cp:lastModifiedBy>
  <cp:revision>1</cp:revision>
  <dcterms:created xsi:type="dcterms:W3CDTF">2026-03-23T15:40:58Z</dcterms:created>
  <dcterms:modified xsi:type="dcterms:W3CDTF">2026-03-23T21:09:48Z</dcterms:modified>
</cp:coreProperties>
</file>