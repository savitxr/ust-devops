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4.jpg" ContentType="image/jpe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2" r:id="rId15"/>
    <p:sldId id="281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x="12192000" cy="6858000"/>
  <p:notesSz cx="6858000" cy="12192000"/>
  <p:embeddedFontLst>
    <p:embeddedFont>
      <p:font typeface="微软雅黑" panose="020B0503020204020204" pitchFamily="34" charset="-122"/>
      <p:regular r:id="rId29"/>
      <p:bold r:id="rId30"/>
    </p:embeddedFont>
    <p:embeddedFont>
      <p:font typeface="MiSans" panose="020B0604020202020204" charset="-122"/>
      <p:regular r:id="rId31"/>
    </p:embeddedFont>
    <p:embeddedFont>
      <p:font typeface="Quattrocento Sans" panose="020B0502050000020003" pitchFamily="34" charset="0"/>
      <p:regular r:id="rId32"/>
      <p:bold r:id="rId33"/>
    </p:embeddedFont>
    <p:embeddedFont>
      <p:font typeface="Sorts Mill Goudy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468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CAD23-1F4C-9935-3183-DE655818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0B3BC-7E47-BC14-34AD-FA61C3A36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1638F-986F-3EDE-20FA-F241B2A0D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9F744-F89F-35C9-CD77-0165BE8C3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2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878CE-1F7F-C640-87D0-21E247440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E09FB-B1BF-8C5B-6375-B085F914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1FA06-487A-B230-3442-21EB7FFE9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54AC5-D51F-26A2-7F8A-81FCA0227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53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6D03D-036A-7CFB-57E8-80F19110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2C939-9EED-E0D6-9CCC-44A56A603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BF193-D60E-37B3-9C3D-9746C9BA7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5EAB6-5742-3147-6739-AD42633DD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53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590FB-49D0-C621-03D8-208551C65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3D9DC-5E55-8900-E3B2-B9C1E6B9E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7CFD2-22A0-EBCE-3B22-1C0D38784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2A14A-E67C-E9C0-7342-1CDDA67AF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74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F8B4D-6114-F8FD-A20A-0BDEA504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71BB3-FF72-8E77-4C06-768663354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70812-E330-9CD4-ABCB-953A98794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4181A-62CE-C620-A480-1CFB61967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11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EBA13-95A0-10DB-6803-386DF57D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90303-C479-A3BC-2B6A-32ABEDCFC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4EB66-3701-972C-70AD-2ED946C45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78C7C-E3A1-57A2-12DD-57AD8897A8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36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4905C-1390-5FFF-F0AF-ADD1641F6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5E09E-6020-C5BD-CEBB-76230F590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B328F-4566-6177-3997-331058A8B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8BACE-84BB-EA67-1B6C-B0FB5ED55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86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D62BB-7F41-63ED-6BA3-ED0F3AAA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85437-FEDD-063A-40D8-F7A52575B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D98AD-D42F-E28E-8633-F3BF5D083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AD748-3118-C263-2140-8E8374605B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39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a9ac84d0255fa8c9a102b56c227a0c8b9e983fc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21444" r="214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2937">
                  <a:alpha val="95000"/>
                </a:srgbClr>
              </a:gs>
              <a:gs pos="50000">
                <a:srgbClr val="1F2937">
                  <a:alpha val="85000"/>
                </a:srgbClr>
              </a:gs>
              <a:gs pos="100000">
                <a:srgbClr val="8B0000">
                  <a:alpha val="4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384175" y="1468438"/>
            <a:ext cx="2054225" cy="387350"/>
          </a:xfrm>
          <a:custGeom>
            <a:avLst/>
            <a:gdLst/>
            <a:ahLst/>
            <a:cxnLst/>
            <a:rect l="l" t="t" r="r" b="b"/>
            <a:pathLst>
              <a:path w="2054225" h="387350">
                <a:moveTo>
                  <a:pt x="38100" y="0"/>
                </a:moveTo>
                <a:lnTo>
                  <a:pt x="2016125" y="0"/>
                </a:lnTo>
                <a:cubicBezTo>
                  <a:pt x="2037167" y="0"/>
                  <a:pt x="2054225" y="17058"/>
                  <a:pt x="2054225" y="38100"/>
                </a:cubicBezTo>
                <a:lnTo>
                  <a:pt x="2054225" y="349250"/>
                </a:lnTo>
                <a:cubicBezTo>
                  <a:pt x="2054225" y="370292"/>
                  <a:pt x="2037167" y="387350"/>
                  <a:pt x="2016125" y="387350"/>
                </a:cubicBezTo>
                <a:lnTo>
                  <a:pt x="38100" y="387350"/>
                </a:lnTo>
                <a:cubicBezTo>
                  <a:pt x="17058" y="387350"/>
                  <a:pt x="0" y="370292"/>
                  <a:pt x="0" y="34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20000"/>
            </a:srgbClr>
          </a:solidFill>
          <a:ln w="8467">
            <a:solidFill>
              <a:srgbClr val="8B00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39750" y="1579563"/>
            <a:ext cx="182076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REFERENCE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16163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Docker Volumes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402013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9FAFB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Comprehensive Technical Guide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087813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9FAF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reference for commands, flags, options, and practical examples for persistent storage in containerized environments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3060" y="6088698"/>
            <a:ext cx="1170940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/>
              <a:t>~Chriss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3400" y="381000"/>
            <a:ext cx="2867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76300"/>
            <a:ext cx="1136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coverage of Docker volume management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47800"/>
            <a:ext cx="5543550" cy="1143000"/>
          </a:xfrm>
          <a:custGeom>
            <a:avLst/>
            <a:gdLst/>
            <a:ahLst/>
            <a:cxnLst/>
            <a:rect l="l" t="t" r="r" b="b"/>
            <a:pathLst>
              <a:path w="5543550" h="1143000">
                <a:moveTo>
                  <a:pt x="0" y="0"/>
                </a:moveTo>
                <a:lnTo>
                  <a:pt x="5543550" y="0"/>
                </a:lnTo>
                <a:lnTo>
                  <a:pt x="55435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4478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096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1975" y="1638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638300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 to Docker Volumes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1943100"/>
            <a:ext cx="42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persistent storage in containerized environments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0" y="1447800"/>
            <a:ext cx="5543550" cy="1143000"/>
          </a:xfrm>
          <a:custGeom>
            <a:avLst/>
            <a:gdLst/>
            <a:ahLst/>
            <a:cxnLst/>
            <a:rect l="l" t="t" r="r" b="b"/>
            <a:pathLst>
              <a:path w="5543550" h="1143000">
                <a:moveTo>
                  <a:pt x="0" y="0"/>
                </a:moveTo>
                <a:lnTo>
                  <a:pt x="5543550" y="0"/>
                </a:lnTo>
                <a:lnTo>
                  <a:pt x="55435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67450" y="14478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770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29375" y="1638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16383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Types and Use Cases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1943100"/>
            <a:ext cx="461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volumes, anonymous volumes, bind mounts, and tmpfs mounts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743200"/>
            <a:ext cx="5543550" cy="1143000"/>
          </a:xfrm>
          <a:custGeom>
            <a:avLst/>
            <a:gdLst/>
            <a:ahLst/>
            <a:cxnLst/>
            <a:rect l="l" t="t" r="r" b="b"/>
            <a:pathLst>
              <a:path w="5543550" h="1143000">
                <a:moveTo>
                  <a:pt x="0" y="0"/>
                </a:moveTo>
                <a:lnTo>
                  <a:pt x="5543550" y="0"/>
                </a:lnTo>
                <a:lnTo>
                  <a:pt x="55435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00050" y="27432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9600" y="2933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1975" y="2933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29337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Management Commands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3238500"/>
            <a:ext cx="461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CLI reference for creating, inspecting, and managing volumes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2743200"/>
            <a:ext cx="5543550" cy="1143000"/>
          </a:xfrm>
          <a:custGeom>
            <a:avLst/>
            <a:gdLst/>
            <a:ahLst/>
            <a:cxnLst/>
            <a:rect l="l" t="t" r="r" b="b"/>
            <a:pathLst>
              <a:path w="5543550" h="1143000">
                <a:moveTo>
                  <a:pt x="0" y="0"/>
                </a:moveTo>
                <a:lnTo>
                  <a:pt x="5543550" y="0"/>
                </a:lnTo>
                <a:lnTo>
                  <a:pt x="55435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67450" y="27432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77000" y="2933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29375" y="2933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2933700"/>
            <a:ext cx="394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Mounting Volumes in Containers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3238500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-v and --mount flags with comprehensive examples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038600"/>
            <a:ext cx="5543550" cy="914400"/>
          </a:xfrm>
          <a:custGeom>
            <a:avLst/>
            <a:gdLst/>
            <a:ahLst/>
            <a:cxnLst/>
            <a:rect l="l" t="t" r="r" b="b"/>
            <a:pathLst>
              <a:path w="5543550" h="914400">
                <a:moveTo>
                  <a:pt x="0" y="0"/>
                </a:moveTo>
                <a:lnTo>
                  <a:pt x="5543550" y="0"/>
                </a:lnTo>
                <a:lnTo>
                  <a:pt x="55435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00050" y="40386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9600" y="422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61975" y="4229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9200" y="4229100"/>
            <a:ext cx="431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Docker Compose Volume Configuration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9200" y="4533900"/>
            <a:ext cx="429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Declarative volume management in multi-container applications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67450" y="4038600"/>
            <a:ext cx="5543550" cy="914400"/>
          </a:xfrm>
          <a:custGeom>
            <a:avLst/>
            <a:gdLst/>
            <a:ahLst/>
            <a:cxnLst/>
            <a:rect l="l" t="t" r="r" b="b"/>
            <a:pathLst>
              <a:path w="5543550" h="914400">
                <a:moveTo>
                  <a:pt x="0" y="0"/>
                </a:moveTo>
                <a:lnTo>
                  <a:pt x="5543550" y="0"/>
                </a:lnTo>
                <a:lnTo>
                  <a:pt x="55435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267450" y="40386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77000" y="422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29375" y="4229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4229100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Drivers and Plugins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86600" y="453390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Extending Docker storage with third-party drivers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105400"/>
            <a:ext cx="5543550" cy="914400"/>
          </a:xfrm>
          <a:custGeom>
            <a:avLst/>
            <a:gdLst/>
            <a:ahLst/>
            <a:cxnLst/>
            <a:rect l="l" t="t" r="r" b="b"/>
            <a:pathLst>
              <a:path w="5543550" h="914400">
                <a:moveTo>
                  <a:pt x="0" y="0"/>
                </a:moveTo>
                <a:lnTo>
                  <a:pt x="5543550" y="0"/>
                </a:lnTo>
                <a:lnTo>
                  <a:pt x="55435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00050" y="51054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09600" y="529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61975" y="5295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19200" y="5295900"/>
            <a:ext cx="3762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Backup, Restore, and Migration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19200" y="5600700"/>
            <a:ext cx="3743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protection strategies for containerized applications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67450" y="5105400"/>
            <a:ext cx="5543550" cy="914400"/>
          </a:xfrm>
          <a:custGeom>
            <a:avLst/>
            <a:gdLst/>
            <a:ahLst/>
            <a:cxnLst/>
            <a:rect l="l" t="t" r="r" b="b"/>
            <a:pathLst>
              <a:path w="5543550" h="914400">
                <a:moveTo>
                  <a:pt x="0" y="0"/>
                </a:moveTo>
                <a:lnTo>
                  <a:pt x="5543550" y="0"/>
                </a:lnTo>
                <a:lnTo>
                  <a:pt x="55435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267450" y="51054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477000" y="529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29375" y="5295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86600" y="529590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Best Practices and Cleanup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86600" y="56007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guidelines for volume management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8a0af54970f2c946795763839fb6c9b755ddf1b7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10333" r="1033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2937">
                  <a:alpha val="98000"/>
                </a:srgbClr>
              </a:gs>
              <a:gs pos="50000">
                <a:srgbClr val="1F293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19526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89471" y="2105025"/>
            <a:ext cx="371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526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81000" y="294322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 to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Docker Volumes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600575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persistent storage in containerized environments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3400" y="438150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What Are Docker Volumes?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0" y="0"/>
                </a:moveTo>
                <a:lnTo>
                  <a:pt x="5581650" y="0"/>
                </a:lnTo>
                <a:lnTo>
                  <a:pt x="55816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3716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71500" y="1524000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866900"/>
            <a:ext cx="5334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volumes are the </a:t>
            </a: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preferred mechanism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persisting data generated by and used by Docker containers. They are completely managed by Docker and stored in </a:t>
            </a:r>
            <a:r>
              <a:rPr lang="en-US" sz="1050" dirty="0">
                <a:solidFill>
                  <a:srgbClr val="8B0000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/var/lib/docker/volumes/ 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the host filesystem.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914650"/>
            <a:ext cx="5581650" cy="1790700"/>
          </a:xfrm>
          <a:custGeom>
            <a:avLst/>
            <a:gdLst/>
            <a:ahLst/>
            <a:cxnLst/>
            <a:rect l="l" t="t" r="r" b="b"/>
            <a:pathLst>
              <a:path w="5581650" h="1790700">
                <a:moveTo>
                  <a:pt x="0" y="0"/>
                </a:moveTo>
                <a:lnTo>
                  <a:pt x="5581650" y="0"/>
                </a:lnTo>
                <a:lnTo>
                  <a:pt x="5581650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00050" y="2914650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1500" y="3067050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550" y="3448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8200" y="340995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Easier to back up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migrate than bind mounts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0550" y="3752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8200" y="371475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Shareable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multiple containers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0550" y="4057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8200" y="4019550"/>
            <a:ext cx="369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drivers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allow storage on remote hosts or cloud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0550" y="436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8200" y="432435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Managed by Docker CLI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API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9350" y="1371600"/>
            <a:ext cx="5581650" cy="3238500"/>
          </a:xfrm>
          <a:custGeom>
            <a:avLst/>
            <a:gdLst/>
            <a:ahLst/>
            <a:cxnLst/>
            <a:rect l="l" t="t" r="r" b="b"/>
            <a:pathLst>
              <a:path w="5581650" h="3238500">
                <a:moveTo>
                  <a:pt x="0" y="0"/>
                </a:moveTo>
                <a:lnTo>
                  <a:pt x="5581650" y="0"/>
                </a:lnTo>
                <a:lnTo>
                  <a:pt x="558165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29350" y="1371600"/>
            <a:ext cx="38100" cy="3238500"/>
          </a:xfrm>
          <a:custGeom>
            <a:avLst/>
            <a:gdLst/>
            <a:ahLst/>
            <a:cxnLst/>
            <a:rect l="l" t="t" r="r" b="b"/>
            <a:pathLst>
              <a:path w="38100" h="3238500">
                <a:moveTo>
                  <a:pt x="0" y="0"/>
                </a:moveTo>
                <a:lnTo>
                  <a:pt x="38100" y="0"/>
                </a:lnTo>
                <a:lnTo>
                  <a:pt x="3810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0" y="1524000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Three Main Storage Options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3975" y="1908175"/>
            <a:ext cx="5254625" cy="768350"/>
          </a:xfrm>
          <a:custGeom>
            <a:avLst/>
            <a:gdLst/>
            <a:ahLst/>
            <a:cxnLst/>
            <a:rect l="l" t="t" r="r" b="b"/>
            <a:pathLst>
              <a:path w="5254625" h="768350">
                <a:moveTo>
                  <a:pt x="0" y="0"/>
                </a:moveTo>
                <a:lnTo>
                  <a:pt x="5254625" y="0"/>
                </a:lnTo>
                <a:lnTo>
                  <a:pt x="5254625" y="768350"/>
                </a:lnTo>
                <a:lnTo>
                  <a:pt x="0" y="768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521450" y="20447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88113" y="2044701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26250" y="2025651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21450" y="2330451"/>
            <a:ext cx="509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Docker-managed, stored in </a:t>
            </a:r>
            <a:r>
              <a:rPr lang="en-US" sz="1050" dirty="0">
                <a:solidFill>
                  <a:srgbClr val="6B7280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/var/lib/docker/volumes/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3975" y="2797177"/>
            <a:ext cx="5254625" cy="768350"/>
          </a:xfrm>
          <a:custGeom>
            <a:avLst/>
            <a:gdLst/>
            <a:ahLst/>
            <a:cxnLst/>
            <a:rect l="l" t="t" r="r" b="b"/>
            <a:pathLst>
              <a:path w="5254625" h="768350">
                <a:moveTo>
                  <a:pt x="0" y="0"/>
                </a:moveTo>
                <a:lnTo>
                  <a:pt x="5254625" y="0"/>
                </a:lnTo>
                <a:lnTo>
                  <a:pt x="5254625" y="768350"/>
                </a:lnTo>
                <a:lnTo>
                  <a:pt x="0" y="768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521450" y="2933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88113" y="29337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26250" y="2914650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Bind Mounts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21450" y="3219450"/>
            <a:ext cx="509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host filesystem mapping, any location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3975" y="3686176"/>
            <a:ext cx="5254625" cy="768350"/>
          </a:xfrm>
          <a:custGeom>
            <a:avLst/>
            <a:gdLst/>
            <a:ahLst/>
            <a:cxnLst/>
            <a:rect l="l" t="t" r="r" b="b"/>
            <a:pathLst>
              <a:path w="5254625" h="768350">
                <a:moveTo>
                  <a:pt x="0" y="0"/>
                </a:moveTo>
                <a:lnTo>
                  <a:pt x="5254625" y="0"/>
                </a:lnTo>
                <a:lnTo>
                  <a:pt x="5254625" y="768350"/>
                </a:lnTo>
                <a:lnTo>
                  <a:pt x="0" y="768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521450" y="38227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88113" y="3822702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26250" y="3803652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tmpfs Mounts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21450" y="4108452"/>
            <a:ext cx="509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RAM-based, ephemeral, never written to disk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29350" y="4762500"/>
            <a:ext cx="5581650" cy="685800"/>
          </a:xfrm>
          <a:custGeom>
            <a:avLst/>
            <a:gdLst/>
            <a:ahLst/>
            <a:cxnLst/>
            <a:rect l="l" t="t" r="r" b="b"/>
            <a:pathLst>
              <a:path w="5581650" h="685800">
                <a:moveTo>
                  <a:pt x="0" y="0"/>
                </a:moveTo>
                <a:lnTo>
                  <a:pt x="5581650" y="0"/>
                </a:lnTo>
                <a:lnTo>
                  <a:pt x="55816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229350" y="47625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400800" y="490855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610350" y="4876800"/>
            <a:ext cx="5162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volumes for production databases and persistent data. Bind mounts are better for development and configuration files.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ltexsoft.com/4c6a81d4c0d2c63aed028c35f764466639adb017.pn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2937">
                  <a:alpha val="98000"/>
                </a:srgbClr>
              </a:gs>
              <a:gs pos="50000">
                <a:srgbClr val="1F293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18002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5616" y="19526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8002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81000" y="279082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Types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 Use Cases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448175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volumes, anonymous volumes, bind mounts, and tmpfs mounts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3400" y="4381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Types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298575"/>
            <a:ext cx="11426825" cy="1930400"/>
          </a:xfrm>
          <a:custGeom>
            <a:avLst/>
            <a:gdLst/>
            <a:ahLst/>
            <a:cxnLst/>
            <a:rect l="l" t="t" r="r" b="b"/>
            <a:pathLst>
              <a:path w="11426825" h="1930400">
                <a:moveTo>
                  <a:pt x="0" y="0"/>
                </a:moveTo>
                <a:lnTo>
                  <a:pt x="11426825" y="0"/>
                </a:lnTo>
                <a:lnTo>
                  <a:pt x="11426825" y="1930400"/>
                </a:ln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8467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7350" y="1301751"/>
          <a:ext cx="11420475" cy="1924050"/>
        </p:xfrm>
        <a:graphic>
          <a:graphicData uri="http://schemas.openxmlformats.org/drawingml/2006/table">
            <a:tbl>
              <a:tblPr/>
              <a:tblGrid>
                <a:gridCol w="232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81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Volume Type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Persistence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Host Access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Performance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 Cases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Named Volumes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Persistent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Managed by Docker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(native FS)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Databases, persistent data, production workloads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Anonymous Volumes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Persistent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Auto-generated names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(native FS)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Temporary data, cache, avoid in production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Bind Mounts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Persistent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Direct host path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(native FS)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Development, config files, source code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tmpfs Mounts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Ephemeral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RAM only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Very High (RAM)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Sensitive data, session cache, temporary files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00050" y="3384552"/>
            <a:ext cx="5619750" cy="1295400"/>
          </a:xfrm>
          <a:custGeom>
            <a:avLst/>
            <a:gdLst/>
            <a:ahLst/>
            <a:cxnLst/>
            <a:rect l="l" t="t" r="r" b="b"/>
            <a:pathLst>
              <a:path w="5619750" h="1295400">
                <a:moveTo>
                  <a:pt x="0" y="0"/>
                </a:moveTo>
                <a:lnTo>
                  <a:pt x="5619750" y="0"/>
                </a:lnTo>
                <a:lnTo>
                  <a:pt x="5619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00050" y="3384552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71500" y="3536952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Named Volumes (Recommended)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4200" y="3879852"/>
            <a:ext cx="5280025" cy="342900"/>
          </a:xfrm>
          <a:custGeom>
            <a:avLst/>
            <a:gdLst/>
            <a:ahLst/>
            <a:cxnLst/>
            <a:rect l="l" t="t" r="r" b="b"/>
            <a:pathLst>
              <a:path w="5280025" h="342900">
                <a:moveTo>
                  <a:pt x="25400" y="0"/>
                </a:moveTo>
                <a:lnTo>
                  <a:pt x="5241925" y="0"/>
                </a:lnTo>
                <a:cubicBezTo>
                  <a:pt x="5262967" y="0"/>
                  <a:pt x="5280025" y="17058"/>
                  <a:pt x="5280025" y="38100"/>
                </a:cubicBezTo>
                <a:lnTo>
                  <a:pt x="5280025" y="304800"/>
                </a:lnTo>
                <a:cubicBezTo>
                  <a:pt x="5280025" y="325842"/>
                  <a:pt x="5262967" y="342900"/>
                  <a:pt x="5241925" y="342900"/>
                </a:cubicBezTo>
                <a:lnTo>
                  <a:pt x="25400" y="342900"/>
                </a:lnTo>
                <a:cubicBezTo>
                  <a:pt x="11372" y="342900"/>
                  <a:pt x="0" y="331528"/>
                  <a:pt x="0" y="3175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84200" y="3879852"/>
            <a:ext cx="25400" cy="342900"/>
          </a:xfrm>
          <a:custGeom>
            <a:avLst/>
            <a:gdLst/>
            <a:ahLst/>
            <a:cxnLst/>
            <a:rect l="l" t="t" r="r" b="b"/>
            <a:pathLst>
              <a:path w="25400" h="342900">
                <a:moveTo>
                  <a:pt x="25400" y="0"/>
                </a:moveTo>
                <a:lnTo>
                  <a:pt x="25400" y="0"/>
                </a:lnTo>
                <a:lnTo>
                  <a:pt x="25400" y="342900"/>
                </a:lnTo>
                <a:lnTo>
                  <a:pt x="25400" y="342900"/>
                </a:lnTo>
                <a:cubicBezTo>
                  <a:pt x="11372" y="342900"/>
                  <a:pt x="0" y="331528"/>
                  <a:pt x="0" y="3175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71500" y="3879852"/>
            <a:ext cx="5334000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-v mydata:/app/data nginx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1500" y="4298952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Docker-managed, easy to identify, share between containers, backup-friendly.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91250" y="3384552"/>
            <a:ext cx="5619750" cy="1295400"/>
          </a:xfrm>
          <a:custGeom>
            <a:avLst/>
            <a:gdLst/>
            <a:ahLst/>
            <a:cxnLst/>
            <a:rect l="l" t="t" r="r" b="b"/>
            <a:pathLst>
              <a:path w="5619750" h="1295400">
                <a:moveTo>
                  <a:pt x="0" y="0"/>
                </a:moveTo>
                <a:lnTo>
                  <a:pt x="5619750" y="0"/>
                </a:lnTo>
                <a:lnTo>
                  <a:pt x="5619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191250" y="3384552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62700" y="3536952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Bind Mounts (Development)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75400" y="3879852"/>
            <a:ext cx="5280025" cy="342900"/>
          </a:xfrm>
          <a:custGeom>
            <a:avLst/>
            <a:gdLst/>
            <a:ahLst/>
            <a:cxnLst/>
            <a:rect l="l" t="t" r="r" b="b"/>
            <a:pathLst>
              <a:path w="5280025" h="342900">
                <a:moveTo>
                  <a:pt x="25400" y="0"/>
                </a:moveTo>
                <a:lnTo>
                  <a:pt x="5241925" y="0"/>
                </a:lnTo>
                <a:cubicBezTo>
                  <a:pt x="5262967" y="0"/>
                  <a:pt x="5280025" y="17058"/>
                  <a:pt x="5280025" y="38100"/>
                </a:cubicBezTo>
                <a:lnTo>
                  <a:pt x="5280025" y="304800"/>
                </a:lnTo>
                <a:cubicBezTo>
                  <a:pt x="5280025" y="325842"/>
                  <a:pt x="5262967" y="342900"/>
                  <a:pt x="5241925" y="342900"/>
                </a:cubicBezTo>
                <a:lnTo>
                  <a:pt x="25400" y="342900"/>
                </a:lnTo>
                <a:cubicBezTo>
                  <a:pt x="11372" y="342900"/>
                  <a:pt x="0" y="331528"/>
                  <a:pt x="0" y="3175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375400" y="3879852"/>
            <a:ext cx="25400" cy="342900"/>
          </a:xfrm>
          <a:custGeom>
            <a:avLst/>
            <a:gdLst/>
            <a:ahLst/>
            <a:cxnLst/>
            <a:rect l="l" t="t" r="r" b="b"/>
            <a:pathLst>
              <a:path w="25400" h="342900">
                <a:moveTo>
                  <a:pt x="25400" y="0"/>
                </a:moveTo>
                <a:lnTo>
                  <a:pt x="25400" y="0"/>
                </a:lnTo>
                <a:lnTo>
                  <a:pt x="25400" y="342900"/>
                </a:lnTo>
                <a:lnTo>
                  <a:pt x="25400" y="342900"/>
                </a:lnTo>
                <a:cubicBezTo>
                  <a:pt x="11372" y="342900"/>
                  <a:pt x="0" y="331528"/>
                  <a:pt x="0" y="3175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362700" y="3879852"/>
            <a:ext cx="5334000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-v /host/path:/container/path nginx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62700" y="4298952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filesystem mapping, host-dependent paths, good for live code editing.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9E2D7-13A5-F16F-55C8-4A61A70F9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BD9572-B90B-986D-A3B6-E63CD270C43D}"/>
              </a:ext>
            </a:extLst>
          </p:cNvPr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128B68-D31F-7E02-A7F7-418145B497B0}"/>
              </a:ext>
            </a:extLst>
          </p:cNvPr>
          <p:cNvSpPr/>
          <p:nvPr/>
        </p:nvSpPr>
        <p:spPr>
          <a:xfrm>
            <a:off x="533400" y="4381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6AEE8B-B523-1E1A-A87E-299C7B504396}"/>
              </a:ext>
            </a:extLst>
          </p:cNvPr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</a:rPr>
              <a:t>Anonymous Volumes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5E2AF3A-A0F2-4A0A-DC76-873617D1E0D9}"/>
              </a:ext>
            </a:extLst>
          </p:cNvPr>
          <p:cNvSpPr/>
          <p:nvPr/>
        </p:nvSpPr>
        <p:spPr>
          <a:xfrm>
            <a:off x="384175" y="1298575"/>
            <a:ext cx="11426825" cy="1930400"/>
          </a:xfrm>
          <a:custGeom>
            <a:avLst/>
            <a:gdLst/>
            <a:ahLst/>
            <a:cxnLst/>
            <a:rect l="l" t="t" r="r" b="b"/>
            <a:pathLst>
              <a:path w="11426825" h="1930400">
                <a:moveTo>
                  <a:pt x="0" y="0"/>
                </a:moveTo>
                <a:lnTo>
                  <a:pt x="11426825" y="0"/>
                </a:lnTo>
                <a:lnTo>
                  <a:pt x="11426825" y="1930400"/>
                </a:ln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8467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4454D690-4986-6CCB-8573-E7584F813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514749"/>
              </p:ext>
            </p:extLst>
          </p:nvPr>
        </p:nvGraphicFramePr>
        <p:xfrm>
          <a:off x="387350" y="1301751"/>
          <a:ext cx="11420475" cy="5175247"/>
        </p:xfrm>
        <a:graphic>
          <a:graphicData uri="http://schemas.openxmlformats.org/drawingml/2006/table">
            <a:tbl>
              <a:tblPr/>
              <a:tblGrid>
                <a:gridCol w="221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2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4491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Commands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Flags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Meaning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Examples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 Cases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-v </a:t>
                      </a:r>
                      <a:r>
                        <a:rPr lang="en-IN" sz="1200" dirty="0"/>
                        <a:t>&lt;container-path&gt;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Create anonymous volume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/data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-v &lt;container-path&gt;:</a:t>
                      </a:r>
                      <a:r>
                        <a:rPr lang="en-IN" sz="1200" dirty="0" err="1"/>
                        <a:t>rw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Read-write access (default)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/</a:t>
                      </a:r>
                      <a:r>
                        <a:rPr lang="en-US" sz="1200" dirty="0" err="1"/>
                        <a:t>data:rw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-v &lt;container-path&gt;:</a:t>
                      </a:r>
                      <a:r>
                        <a:rPr lang="en-IN" sz="1200" dirty="0" err="1"/>
                        <a:t>ro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Read-only volume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/</a:t>
                      </a:r>
                      <a:r>
                        <a:rPr lang="en-US" sz="1200" dirty="0" err="1"/>
                        <a:t>data:ro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-v &lt;container-path&gt;:z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Shared </a:t>
                      </a:r>
                      <a:r>
                        <a:rPr lang="en-IN" sz="1200" dirty="0" err="1"/>
                        <a:t>SELinux</a:t>
                      </a:r>
                      <a:r>
                        <a:rPr lang="en-IN" sz="1200" dirty="0"/>
                        <a:t> 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/</a:t>
                      </a:r>
                      <a:r>
                        <a:rPr lang="en-US" sz="1200" dirty="0" err="1"/>
                        <a:t>data:z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-v &lt;container-path&gt;:Z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Private </a:t>
                      </a:r>
                      <a:r>
                        <a:rPr lang="en-IN" sz="1200" dirty="0" err="1"/>
                        <a:t>SELinux</a:t>
                      </a:r>
                      <a:r>
                        <a:rPr lang="en-IN" sz="1200" dirty="0"/>
                        <a:t> 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/</a:t>
                      </a:r>
                      <a:r>
                        <a:rPr lang="en-US" sz="1200" dirty="0" err="1"/>
                        <a:t>data:Z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37009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-v &lt;container-path&gt;:</a:t>
                      </a:r>
                      <a:r>
                        <a:rPr lang="en-IN" sz="1200" dirty="0" err="1"/>
                        <a:t>nocopy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Prevent copying container 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/</a:t>
                      </a:r>
                      <a:r>
                        <a:rPr lang="en-US" sz="1200" dirty="0" err="1"/>
                        <a:t>data:nocopy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846"/>
                  </a:ext>
                </a:extLst>
              </a:tr>
              <a:tr h="718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--mount type=</a:t>
                      </a:r>
                      <a:r>
                        <a:rPr lang="en-US" sz="1200" dirty="0" err="1"/>
                        <a:t>volume,target</a:t>
                      </a:r>
                      <a:r>
                        <a:rPr lang="en-US" sz="1200" dirty="0"/>
                        <a:t>=&lt;path&gt;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Create anonymous volume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--mount type=</a:t>
                      </a:r>
                      <a:r>
                        <a:rPr lang="en-US" sz="1200" dirty="0" err="1"/>
                        <a:t>volume,target</a:t>
                      </a:r>
                      <a:r>
                        <a:rPr lang="en-US" sz="1200" dirty="0"/>
                        <a:t>=/data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55000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readonly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Read-only mount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--mount type=</a:t>
                      </a:r>
                      <a:r>
                        <a:rPr lang="en-US" sz="1200" dirty="0" err="1"/>
                        <a:t>volume,target</a:t>
                      </a:r>
                      <a:r>
                        <a:rPr lang="en-US" sz="1200" dirty="0"/>
                        <a:t>=/</a:t>
                      </a:r>
                      <a:r>
                        <a:rPr lang="en-US" sz="1200" dirty="0" err="1"/>
                        <a:t>data,readonly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310530"/>
                  </a:ext>
                </a:extLst>
              </a:tr>
              <a:tr h="343715"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6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3181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0F9A3B-61D7-E71C-0137-00E567BBC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4E30F5-846D-5367-FE57-32AE9A577D86}"/>
              </a:ext>
            </a:extLst>
          </p:cNvPr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D7DC7A-CB24-161F-9978-D77F9FC39BAC}"/>
              </a:ext>
            </a:extLst>
          </p:cNvPr>
          <p:cNvSpPr/>
          <p:nvPr/>
        </p:nvSpPr>
        <p:spPr>
          <a:xfrm>
            <a:off x="533400" y="4381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C85651-7DEF-7628-A0C2-645BBB7F0DD7}"/>
              </a:ext>
            </a:extLst>
          </p:cNvPr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</a:rPr>
              <a:t>Anonymous Volumes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D5778F4-31A5-5913-4A93-7C1704F68363}"/>
              </a:ext>
            </a:extLst>
          </p:cNvPr>
          <p:cNvSpPr/>
          <p:nvPr/>
        </p:nvSpPr>
        <p:spPr>
          <a:xfrm>
            <a:off x="384175" y="1298575"/>
            <a:ext cx="11426825" cy="1930400"/>
          </a:xfrm>
          <a:custGeom>
            <a:avLst/>
            <a:gdLst/>
            <a:ahLst/>
            <a:cxnLst/>
            <a:rect l="l" t="t" r="r" b="b"/>
            <a:pathLst>
              <a:path w="11426825" h="1930400">
                <a:moveTo>
                  <a:pt x="0" y="0"/>
                </a:moveTo>
                <a:lnTo>
                  <a:pt x="11426825" y="0"/>
                </a:lnTo>
                <a:lnTo>
                  <a:pt x="11426825" y="1930400"/>
                </a:ln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8467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E36E61ED-A33A-924A-E892-8E4AB28A9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812469"/>
              </p:ext>
            </p:extLst>
          </p:nvPr>
        </p:nvGraphicFramePr>
        <p:xfrm>
          <a:off x="387350" y="1301751"/>
          <a:ext cx="11460607" cy="5359320"/>
        </p:xfrm>
        <a:graphic>
          <a:graphicData uri="http://schemas.openxmlformats.org/drawingml/2006/table">
            <a:tbl>
              <a:tblPr/>
              <a:tblGrid>
                <a:gridCol w="221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0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23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628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Commands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Flags /Options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Meaning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Examples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 Cases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volume-</a:t>
                      </a:r>
                      <a:r>
                        <a:rPr lang="en-IN" sz="1200" dirty="0" err="1"/>
                        <a:t>nocopy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Disable copying container 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--mount type=</a:t>
                      </a:r>
                      <a:r>
                        <a:rPr lang="en-US" sz="1200" dirty="0" err="1"/>
                        <a:t>volume,target</a:t>
                      </a:r>
                      <a:r>
                        <a:rPr lang="en-US" sz="1200" dirty="0"/>
                        <a:t>=/</a:t>
                      </a:r>
                      <a:r>
                        <a:rPr lang="en-US" sz="1200" dirty="0" err="1"/>
                        <a:t>data,volume-nocopy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volume-driver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Specify driver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--mount type=</a:t>
                      </a:r>
                      <a:r>
                        <a:rPr lang="en-US" sz="1200" dirty="0" err="1"/>
                        <a:t>volume,target</a:t>
                      </a:r>
                      <a:r>
                        <a:rPr lang="en-US" sz="1200" dirty="0"/>
                        <a:t>=/</a:t>
                      </a:r>
                      <a:r>
                        <a:rPr lang="en-US" sz="1200" dirty="0" err="1"/>
                        <a:t>data,volume</a:t>
                      </a:r>
                      <a:r>
                        <a:rPr lang="en-US" sz="1200" dirty="0"/>
                        <a:t>-driver=local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volume-label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Add metadata 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--mount type=</a:t>
                      </a:r>
                      <a:r>
                        <a:rPr lang="en-US" sz="1200" dirty="0" err="1"/>
                        <a:t>volume,target</a:t>
                      </a:r>
                      <a:r>
                        <a:rPr lang="en-US" sz="1200" dirty="0"/>
                        <a:t>=/</a:t>
                      </a:r>
                      <a:r>
                        <a:rPr lang="en-US" sz="1200" dirty="0" err="1"/>
                        <a:t>data,volume</a:t>
                      </a:r>
                      <a:r>
                        <a:rPr lang="en-US" sz="1200" dirty="0"/>
                        <a:t>-label=env=dev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rm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-v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Remove container + attached volumes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rm -v </a:t>
                      </a:r>
                      <a:r>
                        <a:rPr lang="en-IN" sz="1200" dirty="0" err="1"/>
                        <a:t>mycontainer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8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-f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Force remove container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rm -f </a:t>
                      </a:r>
                      <a:r>
                        <a:rPr lang="en-IN" sz="1200" dirty="0" err="1"/>
                        <a:t>mycontainer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37009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ls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-q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Show only volume names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ls -q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846"/>
                  </a:ext>
                </a:extLst>
              </a:tr>
              <a:tr h="646055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ls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--filter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Filter volumes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ls --filter dangling=true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55000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ls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--format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Format output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ls --format "{{.Name}}"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310530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inspect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&lt;volume-name&gt;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Inspect specific volume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inspect abc123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662282"/>
                  </a:ext>
                </a:extLst>
              </a:tr>
              <a:tr h="308983"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6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89163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8577A-9F8B-6921-2C42-B56B5E247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A8ABC9-21B2-FB74-A9F7-2963A682A3FE}"/>
              </a:ext>
            </a:extLst>
          </p:cNvPr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8B0645-19E7-BE1F-331F-97A03D52AE4F}"/>
              </a:ext>
            </a:extLst>
          </p:cNvPr>
          <p:cNvSpPr/>
          <p:nvPr/>
        </p:nvSpPr>
        <p:spPr>
          <a:xfrm>
            <a:off x="533400" y="4381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CFDD20-E4A5-5319-FA7E-12C43A867A8F}"/>
              </a:ext>
            </a:extLst>
          </p:cNvPr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</a:rPr>
              <a:t>Anonymous Volumes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37B2511-ED34-DD5F-4EA6-B070D22DF82D}"/>
              </a:ext>
            </a:extLst>
          </p:cNvPr>
          <p:cNvSpPr/>
          <p:nvPr/>
        </p:nvSpPr>
        <p:spPr>
          <a:xfrm>
            <a:off x="384175" y="1298575"/>
            <a:ext cx="10128250" cy="1930400"/>
          </a:xfrm>
          <a:custGeom>
            <a:avLst/>
            <a:gdLst/>
            <a:ahLst/>
            <a:cxnLst/>
            <a:rect l="l" t="t" r="r" b="b"/>
            <a:pathLst>
              <a:path w="11426825" h="1930400">
                <a:moveTo>
                  <a:pt x="0" y="0"/>
                </a:moveTo>
                <a:lnTo>
                  <a:pt x="11426825" y="0"/>
                </a:lnTo>
                <a:lnTo>
                  <a:pt x="11426825" y="1930400"/>
                </a:ln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8467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C1BA6C2A-2166-0362-FA5E-511FF4B52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306266"/>
              </p:ext>
            </p:extLst>
          </p:nvPr>
        </p:nvGraphicFramePr>
        <p:xfrm>
          <a:off x="1031875" y="1364322"/>
          <a:ext cx="10128250" cy="2264704"/>
        </p:xfrm>
        <a:graphic>
          <a:graphicData uri="http://schemas.openxmlformats.org/drawingml/2006/table">
            <a:tbl>
              <a:tblPr/>
              <a:tblGrid>
                <a:gridCol w="221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8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0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628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Commands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Flags /Options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Meaning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Examples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rm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&lt;volume&gt;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Remove specific volume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rm abc123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rm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-f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Force remove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rm -f abc123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prune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none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Remove unused volumes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prune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r>
                        <a:rPr lang="en-IN" sz="1200"/>
                        <a:t>docker volume prune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-f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Force without confirmation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prune -f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09910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174F3-AFA3-9A72-7E42-7424A027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DE89C4-5DDB-865A-E12F-619CF723FFCA}"/>
              </a:ext>
            </a:extLst>
          </p:cNvPr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73741A-995B-757F-CF50-F2D387725E78}"/>
              </a:ext>
            </a:extLst>
          </p:cNvPr>
          <p:cNvSpPr/>
          <p:nvPr/>
        </p:nvSpPr>
        <p:spPr>
          <a:xfrm>
            <a:off x="533400" y="4381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C33FA5-FFA5-9D20-D60D-5D26144A1494}"/>
              </a:ext>
            </a:extLst>
          </p:cNvPr>
          <p:cNvSpPr/>
          <p:nvPr/>
        </p:nvSpPr>
        <p:spPr>
          <a:xfrm>
            <a:off x="1004455" y="45200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</a:rPr>
              <a:t>Named Volumes</a:t>
            </a:r>
            <a:endParaRPr lang="en-US" sz="16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1A0182DB-873C-F4E8-7C75-CACDA09E4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495168"/>
              </p:ext>
            </p:extLst>
          </p:nvPr>
        </p:nvGraphicFramePr>
        <p:xfrm>
          <a:off x="1496002" y="1056574"/>
          <a:ext cx="9199995" cy="5876287"/>
        </p:xfrm>
        <a:graphic>
          <a:graphicData uri="http://schemas.openxmlformats.org/drawingml/2006/table">
            <a:tbl>
              <a:tblPr/>
              <a:tblGrid>
                <a:gridCol w="221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2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491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Commands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Flags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Meaning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Examples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create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&lt;volume-name&gt;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Create named volume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create </a:t>
                      </a:r>
                      <a:r>
                        <a:rPr lang="en-IN" sz="1200" dirty="0" err="1"/>
                        <a:t>myvol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docker volume create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--driver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Specify volume driver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volume create --driver local </a:t>
                      </a:r>
                      <a:r>
                        <a:rPr lang="en-US" sz="1200" dirty="0" err="1"/>
                        <a:t>myvol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create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--label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Add metadata 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create --label env=dev </a:t>
                      </a:r>
                      <a:r>
                        <a:rPr lang="en-IN" sz="1200" dirty="0" err="1"/>
                        <a:t>myvol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docker volume create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--opt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Driver-specific options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create --opt type=</a:t>
                      </a:r>
                      <a:r>
                        <a:rPr lang="en-IN" sz="1200" dirty="0" err="1"/>
                        <a:t>tmpfs</a:t>
                      </a:r>
                      <a:r>
                        <a:rPr lang="en-IN" sz="1200" dirty="0"/>
                        <a:t> </a:t>
                      </a:r>
                      <a:r>
                        <a:rPr lang="en-IN" sz="1200" dirty="0" err="1"/>
                        <a:t>myvol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-v </a:t>
                      </a:r>
                      <a:r>
                        <a:rPr lang="en-US" sz="12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volume:container_path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Mount named volume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</a:t>
                      </a:r>
                      <a:r>
                        <a:rPr lang="en-US" sz="1200" dirty="0" err="1"/>
                        <a:t>myvol</a:t>
                      </a:r>
                      <a:r>
                        <a:rPr lang="en-US" sz="1200" dirty="0"/>
                        <a:t>:/data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37009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:</a:t>
                      </a:r>
                      <a:r>
                        <a:rPr lang="en-US" sz="12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ro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Read-only mount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</a:t>
                      </a:r>
                      <a:r>
                        <a:rPr lang="en-US" sz="1200" dirty="0" err="1"/>
                        <a:t>myvol</a:t>
                      </a:r>
                      <a:r>
                        <a:rPr lang="en-US" sz="1200" dirty="0"/>
                        <a:t>:/</a:t>
                      </a:r>
                      <a:r>
                        <a:rPr lang="en-US" sz="1200" dirty="0" err="1"/>
                        <a:t>data:ro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846"/>
                  </a:ext>
                </a:extLst>
              </a:tr>
              <a:tr h="718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:</a:t>
                      </a:r>
                      <a:r>
                        <a:rPr lang="en-IN" sz="1200" dirty="0" err="1"/>
                        <a:t>rw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Read-write (default)</a:t>
                      </a:r>
                      <a:endParaRPr lang="en-IN" sz="1400" dirty="0">
                        <a:latin typeface="Courier New" panose="02070309020205020404" pitchFamily="49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</a:t>
                      </a:r>
                      <a:r>
                        <a:rPr lang="en-US" sz="1200" dirty="0" err="1"/>
                        <a:t>myvol</a:t>
                      </a:r>
                      <a:r>
                        <a:rPr lang="en-US" sz="1200" dirty="0"/>
                        <a:t>:/</a:t>
                      </a:r>
                      <a:r>
                        <a:rPr lang="en-US" sz="1200" dirty="0" err="1"/>
                        <a:t>data:rw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55000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:z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Shared </a:t>
                      </a:r>
                      <a:r>
                        <a:rPr lang="en-IN" sz="1200" dirty="0" err="1"/>
                        <a:t>SELinux</a:t>
                      </a:r>
                      <a:r>
                        <a:rPr lang="en-IN" sz="1200" dirty="0"/>
                        <a:t> 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</a:t>
                      </a:r>
                      <a:r>
                        <a:rPr lang="en-US" sz="1200" dirty="0" err="1"/>
                        <a:t>myvol</a:t>
                      </a:r>
                      <a:r>
                        <a:rPr lang="en-US" sz="1200" dirty="0"/>
                        <a:t>:/</a:t>
                      </a:r>
                      <a:r>
                        <a:rPr lang="en-US" sz="1200" dirty="0" err="1"/>
                        <a:t>data:z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ngin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310530"/>
                  </a:ext>
                </a:extLst>
              </a:tr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:Z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Private </a:t>
                      </a:r>
                      <a:r>
                        <a:rPr lang="en-IN" sz="1200" dirty="0" err="1"/>
                        <a:t>SELinux</a:t>
                      </a:r>
                      <a:r>
                        <a:rPr lang="en-IN" sz="1200" dirty="0"/>
                        <a:t> 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</a:t>
                      </a:r>
                      <a:r>
                        <a:rPr lang="en-US" sz="1200" dirty="0" err="1"/>
                        <a:t>myvol</a:t>
                      </a:r>
                      <a:r>
                        <a:rPr lang="en-US" sz="1200" dirty="0"/>
                        <a:t>:/</a:t>
                      </a:r>
                      <a:r>
                        <a:rPr lang="en-US" sz="1200" dirty="0" err="1"/>
                        <a:t>data:Z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89306"/>
                  </a:ext>
                </a:extLst>
              </a:tr>
              <a:tr h="343715"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6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25733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EDB97-E791-56CE-4AA7-479862AB3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F0701C-4026-E896-2B24-8737639628A1}"/>
              </a:ext>
            </a:extLst>
          </p:cNvPr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9489A1-0207-8D3D-20C9-44D6281F70BA}"/>
              </a:ext>
            </a:extLst>
          </p:cNvPr>
          <p:cNvSpPr/>
          <p:nvPr/>
        </p:nvSpPr>
        <p:spPr>
          <a:xfrm>
            <a:off x="533400" y="4381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76CEA0-5EC6-91CE-A703-69C3CEBCFFD4}"/>
              </a:ext>
            </a:extLst>
          </p:cNvPr>
          <p:cNvSpPr/>
          <p:nvPr/>
        </p:nvSpPr>
        <p:spPr>
          <a:xfrm>
            <a:off x="1004455" y="45200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</a:rPr>
              <a:t>Named Volumes</a:t>
            </a:r>
            <a:endParaRPr lang="en-US" sz="16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B9A1386E-0735-1E3C-7BB6-6C7F97B93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040990"/>
              </p:ext>
            </p:extLst>
          </p:nvPr>
        </p:nvGraphicFramePr>
        <p:xfrm>
          <a:off x="1357745" y="986866"/>
          <a:ext cx="10141528" cy="5754186"/>
        </p:xfrm>
        <a:graphic>
          <a:graphicData uri="http://schemas.openxmlformats.org/drawingml/2006/table">
            <a:tbl>
              <a:tblPr/>
              <a:tblGrid>
                <a:gridCol w="1998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7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126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Commands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Flags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Meaning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Examples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57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type=volume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Specify volume mount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--mount type=</a:t>
                      </a:r>
                      <a:r>
                        <a:rPr lang="en-US" sz="12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volume,source</a:t>
                      </a: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</a:t>
                      </a:r>
                      <a:r>
                        <a:rPr lang="en-US" sz="12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mydata,target</a:t>
                      </a: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=/app/data nginx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source=&lt;volume&gt;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Volume name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target=&lt;path&gt;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Container path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5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readonly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Mount read-only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--mount type=</a:t>
                      </a:r>
                      <a:r>
                        <a:rPr lang="en-US" sz="12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volume,source</a:t>
                      </a: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</a:t>
                      </a:r>
                      <a:r>
                        <a:rPr lang="en-US" sz="12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mydata,target</a:t>
                      </a: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=/</a:t>
                      </a:r>
                      <a:r>
                        <a:rPr lang="en-US" sz="12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data,readonly</a:t>
                      </a: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 nginx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volume-</a:t>
                      </a:r>
                      <a:r>
                        <a:rPr lang="en-IN" sz="1200" dirty="0" err="1"/>
                        <a:t>nocopy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Disable data copy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37009"/>
                  </a:ext>
                </a:extLst>
              </a:tr>
              <a:tr h="4985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volume-driver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Specify driver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846"/>
                  </a:ext>
                </a:extLst>
              </a:tr>
              <a:tr h="6615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volume-label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Attach labels</a:t>
                      </a:r>
                      <a:endParaRPr lang="en-IN" sz="1400" dirty="0">
                        <a:latin typeface="Courier New" panose="02070309020205020404" pitchFamily="49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55000"/>
                  </a:ext>
                </a:extLst>
              </a:tr>
              <a:tr h="4889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:z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Shared </a:t>
                      </a:r>
                      <a:r>
                        <a:rPr lang="en-IN" sz="1200" dirty="0" err="1"/>
                        <a:t>SELinux</a:t>
                      </a:r>
                      <a:r>
                        <a:rPr lang="en-IN" sz="1200" dirty="0"/>
                        <a:t> 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310530"/>
                  </a:ext>
                </a:extLst>
              </a:tr>
              <a:tr h="4985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:Z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Private </a:t>
                      </a:r>
                      <a:r>
                        <a:rPr lang="en-IN" sz="1200" dirty="0" err="1"/>
                        <a:t>SELinux</a:t>
                      </a:r>
                      <a:r>
                        <a:rPr lang="en-IN" sz="1200" dirty="0"/>
                        <a:t> 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89306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6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31634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EC7E3-E59B-92EE-0521-750BF5B6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48088D-C9C6-787B-064E-1D3C5EDD2D7A}"/>
              </a:ext>
            </a:extLst>
          </p:cNvPr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06271E-49E1-A8C9-97F9-84E2279BFC91}"/>
              </a:ext>
            </a:extLst>
          </p:cNvPr>
          <p:cNvSpPr/>
          <p:nvPr/>
        </p:nvSpPr>
        <p:spPr>
          <a:xfrm>
            <a:off x="533400" y="4381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FE5863-8631-6447-6B61-BAB53EAB08E4}"/>
              </a:ext>
            </a:extLst>
          </p:cNvPr>
          <p:cNvSpPr/>
          <p:nvPr/>
        </p:nvSpPr>
        <p:spPr>
          <a:xfrm>
            <a:off x="1004455" y="45200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</a:rPr>
              <a:t>Named Volumes</a:t>
            </a:r>
            <a:endParaRPr lang="en-US" sz="16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46DFE6B9-D1DA-952D-B782-2CF151986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435107"/>
              </p:ext>
            </p:extLst>
          </p:nvPr>
        </p:nvGraphicFramePr>
        <p:xfrm>
          <a:off x="1357745" y="986866"/>
          <a:ext cx="10141528" cy="5662120"/>
        </p:xfrm>
        <a:graphic>
          <a:graphicData uri="http://schemas.openxmlformats.org/drawingml/2006/table">
            <a:tbl>
              <a:tblPr/>
              <a:tblGrid>
                <a:gridCol w="1998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7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126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Commands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Flags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Meaning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Examples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57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volume ls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none</a:t>
                      </a:r>
                    </a:p>
                  </a:txBody>
                  <a:tcPr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List volumes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ls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docker volume ls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-q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Only show names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ls -q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docker volume ls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--filter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Filter volumes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ls --filter dangling=true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5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docker volume ls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--format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Custom output format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ls --format "{{.Name}}"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docker volume inspect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&lt;volume-name&gt;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Inspect volume details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inspect </a:t>
                      </a:r>
                      <a:r>
                        <a:rPr lang="en-IN" sz="1200" dirty="0" err="1"/>
                        <a:t>mydata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37009"/>
                  </a:ext>
                </a:extLst>
              </a:tr>
              <a:tr h="498596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inspect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--format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Format output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inspect --format '{{.Mountpoint}}' </a:t>
                      </a:r>
                      <a:r>
                        <a:rPr lang="en-IN" sz="1200" dirty="0" err="1"/>
                        <a:t>mydata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846"/>
                  </a:ext>
                </a:extLst>
              </a:tr>
              <a:tr h="661536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rm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&lt;volume&gt;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Remove named volume</a:t>
                      </a:r>
                      <a:endParaRPr lang="en-IN" sz="1400" dirty="0">
                        <a:latin typeface="Courier New" panose="02070309020205020404" pitchFamily="49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rm </a:t>
                      </a:r>
                      <a:r>
                        <a:rPr lang="en-IN" sz="1200" dirty="0" err="1"/>
                        <a:t>mydata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55000"/>
                  </a:ext>
                </a:extLst>
              </a:tr>
              <a:tr h="4889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docker volume rm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-f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Force remove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310530"/>
                  </a:ext>
                </a:extLst>
              </a:tr>
              <a:tr h="498596"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prune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none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Remove unused volumes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docker volume prune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89306"/>
                  </a:ext>
                </a:extLst>
              </a:tr>
              <a:tr h="322621"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6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08625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A2FDD2-8704-39F3-9810-98BEAEF7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626F32-5B6A-1FD3-D2D1-AD26E78787F1}"/>
              </a:ext>
            </a:extLst>
          </p:cNvPr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A928C1-6496-FB48-6025-9697BDEE2684}"/>
              </a:ext>
            </a:extLst>
          </p:cNvPr>
          <p:cNvSpPr/>
          <p:nvPr/>
        </p:nvSpPr>
        <p:spPr>
          <a:xfrm>
            <a:off x="533400" y="4381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3C752F-E3E7-5DB1-BB4F-174766C5A2C0}"/>
              </a:ext>
            </a:extLst>
          </p:cNvPr>
          <p:cNvSpPr/>
          <p:nvPr/>
        </p:nvSpPr>
        <p:spPr>
          <a:xfrm>
            <a:off x="1004455" y="26150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</a:rPr>
              <a:t>Bind Mounts</a:t>
            </a:r>
            <a:endParaRPr lang="en-US" sz="16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51CE14B0-3B54-B37B-C0B6-1C481E131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421187"/>
              </p:ext>
            </p:extLst>
          </p:nvPr>
        </p:nvGraphicFramePr>
        <p:xfrm>
          <a:off x="828136" y="661286"/>
          <a:ext cx="11003644" cy="5928027"/>
        </p:xfrm>
        <a:graphic>
          <a:graphicData uri="http://schemas.openxmlformats.org/drawingml/2006/table">
            <a:tbl>
              <a:tblPr/>
              <a:tblGrid>
                <a:gridCol w="1940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7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9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5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677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Commands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Flags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Meaning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Examples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41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-v </a:t>
                      </a:r>
                      <a:r>
                        <a:rPr lang="en-US" sz="1200" dirty="0" err="1"/>
                        <a:t>host_path:container_path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Mount host directory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/home/user/data:/app/data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:</a:t>
                      </a:r>
                      <a:r>
                        <a:rPr lang="en-US" sz="12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ro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Read-only mount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/home/user/data:/app/</a:t>
                      </a:r>
                      <a:r>
                        <a:rPr lang="en-US" sz="1200" dirty="0" err="1"/>
                        <a:t>data:ro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:</a:t>
                      </a:r>
                      <a:r>
                        <a:rPr lang="en-IN" sz="1200" dirty="0" err="1"/>
                        <a:t>rw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Read-write (default)</a:t>
                      </a:r>
                      <a:endParaRPr lang="en-IN" sz="1400" dirty="0">
                        <a:latin typeface="Courier New" panose="02070309020205020404" pitchFamily="49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/home/user/data:/app/</a:t>
                      </a:r>
                      <a:r>
                        <a:rPr lang="en-US" sz="1200" dirty="0" err="1"/>
                        <a:t>data:rw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:z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Shared </a:t>
                      </a:r>
                      <a:r>
                        <a:rPr lang="en-IN" sz="1200" dirty="0" err="1"/>
                        <a:t>SELinux</a:t>
                      </a:r>
                      <a:r>
                        <a:rPr lang="en-IN" sz="1200" dirty="0"/>
                        <a:t> 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/data:/app/</a:t>
                      </a:r>
                      <a:r>
                        <a:rPr lang="en-US" sz="1200" dirty="0" err="1"/>
                        <a:t>data:z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:Z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Private </a:t>
                      </a:r>
                      <a:r>
                        <a:rPr lang="en-IN" sz="1200" dirty="0" err="1"/>
                        <a:t>SELinux</a:t>
                      </a:r>
                      <a:r>
                        <a:rPr lang="en-IN" sz="1200" dirty="0"/>
                        <a:t> label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run -v /data:/app/</a:t>
                      </a:r>
                      <a:r>
                        <a:rPr lang="en-US" sz="1200" dirty="0" err="1"/>
                        <a:t>data:Z</a:t>
                      </a:r>
                      <a:r>
                        <a:rPr lang="en-US" sz="1200" dirty="0"/>
                        <a:t>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37009"/>
                  </a:ext>
                </a:extLst>
              </a:tr>
              <a:tr h="668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(with –mount)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type=bind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Specifies bind mount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–mount type=</a:t>
                      </a:r>
                      <a:r>
                        <a:rPr lang="en-US" sz="10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bind,source</a:t>
                      </a:r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=/home/ubuntu/</a:t>
                      </a:r>
                      <a:r>
                        <a:rPr lang="en-US" sz="10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data,target</a:t>
                      </a:r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=/app/data nginx</a:t>
                      </a: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846"/>
                  </a:ext>
                </a:extLst>
              </a:tr>
              <a:tr h="7265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source=&lt;host-path&gt;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Host directory</a:t>
                      </a:r>
                      <a:endParaRPr lang="en-IN" sz="1400" dirty="0">
                        <a:latin typeface="Courier New" panose="02070309020205020404" pitchFamily="49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–mount type=</a:t>
                      </a:r>
                      <a:r>
                        <a:rPr lang="en-US" sz="10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bind,source</a:t>
                      </a:r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=/home/ubuntu/</a:t>
                      </a:r>
                      <a:r>
                        <a:rPr lang="en-US" sz="10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data,target</a:t>
                      </a:r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=/app/data nginx</a:t>
                      </a:r>
                    </a:p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55000"/>
                  </a:ext>
                </a:extLst>
              </a:tr>
              <a:tr h="7265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target=&lt;container-path&gt;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Container path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–mount type=</a:t>
                      </a:r>
                      <a:r>
                        <a:rPr lang="en-US" sz="10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bind,source</a:t>
                      </a:r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=/home/ubuntu/</a:t>
                      </a:r>
                      <a:r>
                        <a:rPr lang="en-US" sz="10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data,target</a:t>
                      </a:r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=/app/data nginx</a:t>
                      </a:r>
                    </a:p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310530"/>
                  </a:ext>
                </a:extLst>
              </a:tr>
              <a:tr h="7265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</a:t>
                      </a: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readonly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Read-only mount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docker run –mount type=</a:t>
                      </a:r>
                      <a:r>
                        <a:rPr lang="en-US" sz="10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bind,source</a:t>
                      </a:r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=/home/ubuntu/</a:t>
                      </a:r>
                      <a:r>
                        <a:rPr lang="en-US" sz="1000" dirty="0" err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data,target</a:t>
                      </a:r>
                      <a:r>
                        <a:rPr lang="en-US" sz="10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=/app/data nginx</a:t>
                      </a:r>
                    </a:p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89306"/>
                  </a:ext>
                </a:extLst>
              </a:tr>
              <a:tr h="319677"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6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71062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39663" y="1952625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8002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81000" y="4448175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1EA70D8-5371-847F-5C43-FEB88C0ABC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83280" y="3276600"/>
            <a:ext cx="2865120" cy="286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7443C2-E60B-785C-8A14-42D8C0866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51" y="386080"/>
            <a:ext cx="11297192" cy="61671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3EE05-4FEC-CE1F-A6B9-E0D34D9E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8f09114f36ff5400320c3fb621e24f383ff5889a.jpg">
            <a:extLst>
              <a:ext uri="{FF2B5EF4-FFF2-40B4-BE49-F238E27FC236}">
                <a16:creationId xmlns:a16="http://schemas.microsoft.com/office/drawing/2014/main" id="{F5EC9797-40B3-21C5-C5A0-A92B6379145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0A0D5B8-0750-0457-BB5E-5A6F92FABE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2937">
                  <a:alpha val="98000"/>
                </a:srgbClr>
              </a:gs>
              <a:gs pos="50000">
                <a:srgbClr val="1F293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0954324-E340-EF4D-EFA0-FDC8ED98C024}"/>
              </a:ext>
            </a:extLst>
          </p:cNvPr>
          <p:cNvSpPr/>
          <p:nvPr/>
        </p:nvSpPr>
        <p:spPr>
          <a:xfrm>
            <a:off x="381000" y="18002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EE56B57-48EC-5841-2A1C-22736162DE75}"/>
              </a:ext>
            </a:extLst>
          </p:cNvPr>
          <p:cNvSpPr/>
          <p:nvPr/>
        </p:nvSpPr>
        <p:spPr>
          <a:xfrm>
            <a:off x="639663" y="1952625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5635EBD-8B6A-AE18-08F9-C47BDD61F677}"/>
              </a:ext>
            </a:extLst>
          </p:cNvPr>
          <p:cNvSpPr/>
          <p:nvPr/>
        </p:nvSpPr>
        <p:spPr>
          <a:xfrm>
            <a:off x="1295400" y="18002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C774BDC-5CD6-5EA2-83D4-7D485BDC61F1}"/>
              </a:ext>
            </a:extLst>
          </p:cNvPr>
          <p:cNvSpPr/>
          <p:nvPr/>
        </p:nvSpPr>
        <p:spPr>
          <a:xfrm>
            <a:off x="381000" y="279082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Management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Commands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0046974-B367-F755-EB9E-D54780D62335}"/>
              </a:ext>
            </a:extLst>
          </p:cNvPr>
          <p:cNvSpPr/>
          <p:nvPr/>
        </p:nvSpPr>
        <p:spPr>
          <a:xfrm>
            <a:off x="381000" y="4448175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CLI reference for creating, inspecting, and managing volumes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634302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518" y="379518"/>
            <a:ext cx="37952" cy="303614"/>
          </a:xfrm>
          <a:custGeom>
            <a:avLst/>
            <a:gdLst/>
            <a:ahLst/>
            <a:cxnLst/>
            <a:rect l="l" t="t" r="r" b="b"/>
            <a:pathLst>
              <a:path w="37952" h="303614">
                <a:moveTo>
                  <a:pt x="0" y="0"/>
                </a:moveTo>
                <a:lnTo>
                  <a:pt x="37952" y="0"/>
                </a:lnTo>
                <a:lnTo>
                  <a:pt x="37952" y="303614"/>
                </a:lnTo>
                <a:lnTo>
                  <a:pt x="0" y="30361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1325" y="436445"/>
            <a:ext cx="227711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b="1" kern="0" spc="52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9518" y="759035"/>
            <a:ext cx="11575284" cy="34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Volume Commands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8493" y="1214456"/>
            <a:ext cx="5626347" cy="2068370"/>
          </a:xfrm>
          <a:custGeom>
            <a:avLst/>
            <a:gdLst/>
            <a:ahLst/>
            <a:cxnLst/>
            <a:rect l="l" t="t" r="r" b="b"/>
            <a:pathLst>
              <a:path w="5626347" h="2068370">
                <a:moveTo>
                  <a:pt x="0" y="0"/>
                </a:moveTo>
                <a:lnTo>
                  <a:pt x="5626347" y="0"/>
                </a:lnTo>
                <a:lnTo>
                  <a:pt x="5626347" y="2068370"/>
                </a:lnTo>
                <a:lnTo>
                  <a:pt x="0" y="206837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98493" y="1214456"/>
            <a:ext cx="37952" cy="2068370"/>
          </a:xfrm>
          <a:custGeom>
            <a:avLst/>
            <a:gdLst/>
            <a:ahLst/>
            <a:cxnLst/>
            <a:rect l="l" t="t" r="r" b="b"/>
            <a:pathLst>
              <a:path w="37952" h="2068370">
                <a:moveTo>
                  <a:pt x="0" y="0"/>
                </a:moveTo>
                <a:lnTo>
                  <a:pt x="37952" y="0"/>
                </a:lnTo>
                <a:lnTo>
                  <a:pt x="37952" y="2068370"/>
                </a:lnTo>
                <a:lnTo>
                  <a:pt x="0" y="206837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1325" y="1347287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0" y="0"/>
                </a:moveTo>
                <a:lnTo>
                  <a:pt x="227711" y="0"/>
                </a:lnTo>
                <a:lnTo>
                  <a:pt x="227711" y="227711"/>
                </a:lnTo>
                <a:lnTo>
                  <a:pt x="0" y="22771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8117" y="1347287"/>
            <a:ext cx="29412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4939" y="1328311"/>
            <a:ext cx="1650901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docker volume create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3975" y="1669877"/>
            <a:ext cx="5363847" cy="341566"/>
          </a:xfrm>
          <a:custGeom>
            <a:avLst/>
            <a:gdLst/>
            <a:ahLst/>
            <a:cxnLst/>
            <a:rect l="l" t="t" r="r" b="b"/>
            <a:pathLst>
              <a:path w="5363847" h="341566">
                <a:moveTo>
                  <a:pt x="25301" y="0"/>
                </a:moveTo>
                <a:lnTo>
                  <a:pt x="5325896" y="0"/>
                </a:lnTo>
                <a:cubicBezTo>
                  <a:pt x="5346856" y="0"/>
                  <a:pt x="5363847" y="16991"/>
                  <a:pt x="5363847" y="37951"/>
                </a:cubicBezTo>
                <a:lnTo>
                  <a:pt x="5363847" y="303614"/>
                </a:lnTo>
                <a:cubicBezTo>
                  <a:pt x="5363847" y="324574"/>
                  <a:pt x="5346856" y="341566"/>
                  <a:pt x="5325896" y="341566"/>
                </a:cubicBez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43975" y="1669877"/>
            <a:ext cx="25301" cy="341566"/>
          </a:xfrm>
          <a:custGeom>
            <a:avLst/>
            <a:gdLst/>
            <a:ahLst/>
            <a:cxnLst/>
            <a:rect l="l" t="t" r="r" b="b"/>
            <a:pathLst>
              <a:path w="25301" h="341566">
                <a:moveTo>
                  <a:pt x="25301" y="0"/>
                </a:moveTo>
                <a:lnTo>
                  <a:pt x="25301" y="0"/>
                </a:lnTo>
                <a:lnTo>
                  <a:pt x="25301" y="341566"/>
                </a:ln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1325" y="1669877"/>
            <a:ext cx="5417612" cy="341566"/>
          </a:xfrm>
          <a:prstGeom prst="rect">
            <a:avLst/>
          </a:prstGeom>
          <a:noFill/>
          <a:ln/>
        </p:spPr>
        <p:txBody>
          <a:bodyPr wrap="square" lIns="75904" tIns="75904" rIns="75904" bIns="75904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create [OPTIONS] [VOLUME_NAME]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1325" y="2087346"/>
            <a:ext cx="5446076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-d, --driver </a:t>
            </a: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Volume driver (default: local)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1325" y="2321385"/>
            <a:ext cx="5446076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--label </a:t>
            </a: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Set metadata labels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1325" y="2555419"/>
            <a:ext cx="5446076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-o, --opt </a:t>
            </a: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Driver-specific options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3975" y="2827405"/>
            <a:ext cx="5363847" cy="341566"/>
          </a:xfrm>
          <a:custGeom>
            <a:avLst/>
            <a:gdLst/>
            <a:ahLst/>
            <a:cxnLst/>
            <a:rect l="l" t="t" r="r" b="b"/>
            <a:pathLst>
              <a:path w="5363847" h="341566">
                <a:moveTo>
                  <a:pt x="25301" y="0"/>
                </a:moveTo>
                <a:lnTo>
                  <a:pt x="5325896" y="0"/>
                </a:lnTo>
                <a:cubicBezTo>
                  <a:pt x="5346856" y="0"/>
                  <a:pt x="5363847" y="16991"/>
                  <a:pt x="5363847" y="37951"/>
                </a:cubicBezTo>
                <a:lnTo>
                  <a:pt x="5363847" y="303614"/>
                </a:lnTo>
                <a:cubicBezTo>
                  <a:pt x="5363847" y="324574"/>
                  <a:pt x="5346856" y="341566"/>
                  <a:pt x="5325896" y="341566"/>
                </a:cubicBez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3975" y="2827405"/>
            <a:ext cx="25301" cy="341566"/>
          </a:xfrm>
          <a:custGeom>
            <a:avLst/>
            <a:gdLst/>
            <a:ahLst/>
            <a:cxnLst/>
            <a:rect l="l" t="t" r="r" b="b"/>
            <a:pathLst>
              <a:path w="25301" h="341566">
                <a:moveTo>
                  <a:pt x="25301" y="0"/>
                </a:moveTo>
                <a:lnTo>
                  <a:pt x="25301" y="0"/>
                </a:lnTo>
                <a:lnTo>
                  <a:pt x="25301" y="341566"/>
                </a:ln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1325" y="2827405"/>
            <a:ext cx="5417612" cy="341566"/>
          </a:xfrm>
          <a:prstGeom prst="rect">
            <a:avLst/>
          </a:prstGeom>
          <a:noFill/>
          <a:ln/>
        </p:spPr>
        <p:txBody>
          <a:bodyPr wrap="square" lIns="75904" tIns="75904" rIns="75904" bIns="75904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create -d local -o type=nfs -o device=:/data mynfs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8493" y="3396682"/>
            <a:ext cx="5626347" cy="2068370"/>
          </a:xfrm>
          <a:custGeom>
            <a:avLst/>
            <a:gdLst/>
            <a:ahLst/>
            <a:cxnLst/>
            <a:rect l="l" t="t" r="r" b="b"/>
            <a:pathLst>
              <a:path w="5626347" h="2068370">
                <a:moveTo>
                  <a:pt x="0" y="0"/>
                </a:moveTo>
                <a:lnTo>
                  <a:pt x="5626347" y="0"/>
                </a:lnTo>
                <a:lnTo>
                  <a:pt x="5626347" y="2068370"/>
                </a:lnTo>
                <a:lnTo>
                  <a:pt x="0" y="206837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98493" y="3396682"/>
            <a:ext cx="37952" cy="2068370"/>
          </a:xfrm>
          <a:custGeom>
            <a:avLst/>
            <a:gdLst/>
            <a:ahLst/>
            <a:cxnLst/>
            <a:rect l="l" t="t" r="r" b="b"/>
            <a:pathLst>
              <a:path w="37952" h="2068370">
                <a:moveTo>
                  <a:pt x="0" y="0"/>
                </a:moveTo>
                <a:lnTo>
                  <a:pt x="37952" y="0"/>
                </a:lnTo>
                <a:lnTo>
                  <a:pt x="37952" y="2068370"/>
                </a:lnTo>
                <a:lnTo>
                  <a:pt x="0" y="206837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31325" y="3529513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0" y="0"/>
                </a:moveTo>
                <a:lnTo>
                  <a:pt x="227711" y="0"/>
                </a:lnTo>
                <a:lnTo>
                  <a:pt x="227711" y="227711"/>
                </a:lnTo>
                <a:lnTo>
                  <a:pt x="0" y="227711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8117" y="3529513"/>
            <a:ext cx="29412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4939" y="3510537"/>
            <a:ext cx="1328311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docker volume 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3975" y="3852103"/>
            <a:ext cx="5363847" cy="341566"/>
          </a:xfrm>
          <a:custGeom>
            <a:avLst/>
            <a:gdLst/>
            <a:ahLst/>
            <a:cxnLst/>
            <a:rect l="l" t="t" r="r" b="b"/>
            <a:pathLst>
              <a:path w="5363847" h="341566">
                <a:moveTo>
                  <a:pt x="25301" y="0"/>
                </a:moveTo>
                <a:lnTo>
                  <a:pt x="5325896" y="0"/>
                </a:lnTo>
                <a:cubicBezTo>
                  <a:pt x="5346856" y="0"/>
                  <a:pt x="5363847" y="16991"/>
                  <a:pt x="5363847" y="37951"/>
                </a:cubicBezTo>
                <a:lnTo>
                  <a:pt x="5363847" y="303614"/>
                </a:lnTo>
                <a:cubicBezTo>
                  <a:pt x="5363847" y="324574"/>
                  <a:pt x="5346856" y="341566"/>
                  <a:pt x="5325896" y="341566"/>
                </a:cubicBez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3975" y="3852103"/>
            <a:ext cx="25301" cy="341566"/>
          </a:xfrm>
          <a:custGeom>
            <a:avLst/>
            <a:gdLst/>
            <a:ahLst/>
            <a:cxnLst/>
            <a:rect l="l" t="t" r="r" b="b"/>
            <a:pathLst>
              <a:path w="25301" h="341566">
                <a:moveTo>
                  <a:pt x="25301" y="0"/>
                </a:moveTo>
                <a:lnTo>
                  <a:pt x="25301" y="0"/>
                </a:lnTo>
                <a:lnTo>
                  <a:pt x="25301" y="341566"/>
                </a:ln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31325" y="3852103"/>
            <a:ext cx="5417612" cy="341566"/>
          </a:xfrm>
          <a:prstGeom prst="rect">
            <a:avLst/>
          </a:prstGeom>
          <a:noFill/>
          <a:ln/>
        </p:spPr>
        <p:txBody>
          <a:bodyPr wrap="square" lIns="75904" tIns="75904" rIns="75904" bIns="75904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ls [OPTIONS]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1325" y="4269572"/>
            <a:ext cx="5446076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-f, --filter </a:t>
            </a: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Filter by driver, label, name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1325" y="4503611"/>
            <a:ext cx="5446076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--format </a:t>
            </a: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Custom output format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1325" y="4737645"/>
            <a:ext cx="5446076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-q, --quiet </a:t>
            </a: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Only display volume names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3975" y="5009631"/>
            <a:ext cx="5363847" cy="341566"/>
          </a:xfrm>
          <a:custGeom>
            <a:avLst/>
            <a:gdLst/>
            <a:ahLst/>
            <a:cxnLst/>
            <a:rect l="l" t="t" r="r" b="b"/>
            <a:pathLst>
              <a:path w="5363847" h="341566">
                <a:moveTo>
                  <a:pt x="25301" y="0"/>
                </a:moveTo>
                <a:lnTo>
                  <a:pt x="5325896" y="0"/>
                </a:lnTo>
                <a:cubicBezTo>
                  <a:pt x="5346856" y="0"/>
                  <a:pt x="5363847" y="16991"/>
                  <a:pt x="5363847" y="37951"/>
                </a:cubicBezTo>
                <a:lnTo>
                  <a:pt x="5363847" y="303614"/>
                </a:lnTo>
                <a:cubicBezTo>
                  <a:pt x="5363847" y="324574"/>
                  <a:pt x="5346856" y="341566"/>
                  <a:pt x="5325896" y="341566"/>
                </a:cubicBez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43975" y="5009631"/>
            <a:ext cx="25301" cy="341566"/>
          </a:xfrm>
          <a:custGeom>
            <a:avLst/>
            <a:gdLst/>
            <a:ahLst/>
            <a:cxnLst/>
            <a:rect l="l" t="t" r="r" b="b"/>
            <a:pathLst>
              <a:path w="25301" h="341566">
                <a:moveTo>
                  <a:pt x="25301" y="0"/>
                </a:moveTo>
                <a:lnTo>
                  <a:pt x="25301" y="0"/>
                </a:lnTo>
                <a:lnTo>
                  <a:pt x="25301" y="341566"/>
                </a:ln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1325" y="5009631"/>
            <a:ext cx="5417612" cy="341566"/>
          </a:xfrm>
          <a:prstGeom prst="rect">
            <a:avLst/>
          </a:prstGeom>
          <a:noFill/>
          <a:ln/>
        </p:spPr>
        <p:txBody>
          <a:bodyPr wrap="square" lIns="75904" tIns="75904" rIns="75904" bIns="75904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ls -f driver=local -f label=app=database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2461" y="1214456"/>
            <a:ext cx="5626347" cy="1603461"/>
          </a:xfrm>
          <a:custGeom>
            <a:avLst/>
            <a:gdLst/>
            <a:ahLst/>
            <a:cxnLst/>
            <a:rect l="l" t="t" r="r" b="b"/>
            <a:pathLst>
              <a:path w="5626347" h="1603461">
                <a:moveTo>
                  <a:pt x="0" y="0"/>
                </a:moveTo>
                <a:lnTo>
                  <a:pt x="5626347" y="0"/>
                </a:lnTo>
                <a:lnTo>
                  <a:pt x="5626347" y="1603461"/>
                </a:lnTo>
                <a:lnTo>
                  <a:pt x="0" y="160346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192461" y="1214456"/>
            <a:ext cx="37952" cy="1603461"/>
          </a:xfrm>
          <a:custGeom>
            <a:avLst/>
            <a:gdLst/>
            <a:ahLst/>
            <a:cxnLst/>
            <a:rect l="l" t="t" r="r" b="b"/>
            <a:pathLst>
              <a:path w="37952" h="1603461">
                <a:moveTo>
                  <a:pt x="0" y="0"/>
                </a:moveTo>
                <a:lnTo>
                  <a:pt x="37952" y="0"/>
                </a:lnTo>
                <a:lnTo>
                  <a:pt x="37952" y="1603461"/>
                </a:lnTo>
                <a:lnTo>
                  <a:pt x="0" y="1603461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325292" y="1347287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0" y="0"/>
                </a:moveTo>
                <a:lnTo>
                  <a:pt x="227711" y="0"/>
                </a:lnTo>
                <a:lnTo>
                  <a:pt x="227711" y="227711"/>
                </a:lnTo>
                <a:lnTo>
                  <a:pt x="0" y="227711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292084" y="1347287"/>
            <a:ext cx="29412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28906" y="1328311"/>
            <a:ext cx="1736293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docker volume inspect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7943" y="1669877"/>
            <a:ext cx="5363847" cy="341566"/>
          </a:xfrm>
          <a:custGeom>
            <a:avLst/>
            <a:gdLst/>
            <a:ahLst/>
            <a:cxnLst/>
            <a:rect l="l" t="t" r="r" b="b"/>
            <a:pathLst>
              <a:path w="5363847" h="341566">
                <a:moveTo>
                  <a:pt x="25301" y="0"/>
                </a:moveTo>
                <a:lnTo>
                  <a:pt x="5325896" y="0"/>
                </a:lnTo>
                <a:cubicBezTo>
                  <a:pt x="5346856" y="0"/>
                  <a:pt x="5363847" y="16991"/>
                  <a:pt x="5363847" y="37951"/>
                </a:cubicBezTo>
                <a:lnTo>
                  <a:pt x="5363847" y="303614"/>
                </a:lnTo>
                <a:cubicBezTo>
                  <a:pt x="5363847" y="324574"/>
                  <a:pt x="5346856" y="341566"/>
                  <a:pt x="5325896" y="341566"/>
                </a:cubicBez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337943" y="1669877"/>
            <a:ext cx="25301" cy="341566"/>
          </a:xfrm>
          <a:custGeom>
            <a:avLst/>
            <a:gdLst/>
            <a:ahLst/>
            <a:cxnLst/>
            <a:rect l="l" t="t" r="r" b="b"/>
            <a:pathLst>
              <a:path w="25301" h="341566">
                <a:moveTo>
                  <a:pt x="25301" y="0"/>
                </a:moveTo>
                <a:lnTo>
                  <a:pt x="25301" y="0"/>
                </a:lnTo>
                <a:lnTo>
                  <a:pt x="25301" y="341566"/>
                </a:ln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25292" y="1669877"/>
            <a:ext cx="5417612" cy="341566"/>
          </a:xfrm>
          <a:prstGeom prst="rect">
            <a:avLst/>
          </a:prstGeom>
          <a:noFill/>
          <a:ln/>
        </p:spPr>
        <p:txBody>
          <a:bodyPr wrap="square" lIns="75904" tIns="75904" rIns="75904" bIns="75904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inspect [OPTIONS] VOLUME [VOLUME...]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25292" y="2087346"/>
            <a:ext cx="5446076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-f, --format </a:t>
            </a: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Format output using Go template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7943" y="2359337"/>
            <a:ext cx="5363847" cy="341566"/>
          </a:xfrm>
          <a:custGeom>
            <a:avLst/>
            <a:gdLst/>
            <a:ahLst/>
            <a:cxnLst/>
            <a:rect l="l" t="t" r="r" b="b"/>
            <a:pathLst>
              <a:path w="5363847" h="341566">
                <a:moveTo>
                  <a:pt x="25301" y="0"/>
                </a:moveTo>
                <a:lnTo>
                  <a:pt x="5325896" y="0"/>
                </a:lnTo>
                <a:cubicBezTo>
                  <a:pt x="5346856" y="0"/>
                  <a:pt x="5363847" y="16991"/>
                  <a:pt x="5363847" y="37951"/>
                </a:cubicBezTo>
                <a:lnTo>
                  <a:pt x="5363847" y="303614"/>
                </a:lnTo>
                <a:cubicBezTo>
                  <a:pt x="5363847" y="324574"/>
                  <a:pt x="5346856" y="341566"/>
                  <a:pt x="5325896" y="341566"/>
                </a:cubicBez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337943" y="2359337"/>
            <a:ext cx="25301" cy="341566"/>
          </a:xfrm>
          <a:custGeom>
            <a:avLst/>
            <a:gdLst/>
            <a:ahLst/>
            <a:cxnLst/>
            <a:rect l="l" t="t" r="r" b="b"/>
            <a:pathLst>
              <a:path w="25301" h="341566">
                <a:moveTo>
                  <a:pt x="25301" y="0"/>
                </a:moveTo>
                <a:lnTo>
                  <a:pt x="25301" y="0"/>
                </a:lnTo>
                <a:lnTo>
                  <a:pt x="25301" y="341566"/>
                </a:ln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325292" y="2359337"/>
            <a:ext cx="5417612" cy="341566"/>
          </a:xfrm>
          <a:prstGeom prst="rect">
            <a:avLst/>
          </a:prstGeom>
          <a:noFill/>
          <a:ln/>
        </p:spPr>
        <p:txBody>
          <a:bodyPr wrap="square" lIns="75904" tIns="75904" rIns="75904" bIns="75904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inspect -f '{{ .Mountpoint }}' myvolume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2461" y="2928613"/>
            <a:ext cx="5626347" cy="1603461"/>
          </a:xfrm>
          <a:custGeom>
            <a:avLst/>
            <a:gdLst/>
            <a:ahLst/>
            <a:cxnLst/>
            <a:rect l="l" t="t" r="r" b="b"/>
            <a:pathLst>
              <a:path w="5626347" h="1603461">
                <a:moveTo>
                  <a:pt x="0" y="0"/>
                </a:moveTo>
                <a:lnTo>
                  <a:pt x="5626347" y="0"/>
                </a:lnTo>
                <a:lnTo>
                  <a:pt x="5626347" y="1603461"/>
                </a:lnTo>
                <a:lnTo>
                  <a:pt x="0" y="160346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192461" y="2928613"/>
            <a:ext cx="37952" cy="1603461"/>
          </a:xfrm>
          <a:custGeom>
            <a:avLst/>
            <a:gdLst/>
            <a:ahLst/>
            <a:cxnLst/>
            <a:rect l="l" t="t" r="r" b="b"/>
            <a:pathLst>
              <a:path w="37952" h="1603461">
                <a:moveTo>
                  <a:pt x="0" y="0"/>
                </a:moveTo>
                <a:lnTo>
                  <a:pt x="37952" y="0"/>
                </a:lnTo>
                <a:lnTo>
                  <a:pt x="37952" y="1603461"/>
                </a:lnTo>
                <a:lnTo>
                  <a:pt x="0" y="160346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325292" y="3061444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0" y="0"/>
                </a:moveTo>
                <a:lnTo>
                  <a:pt x="227711" y="0"/>
                </a:lnTo>
                <a:lnTo>
                  <a:pt x="227711" y="227711"/>
                </a:lnTo>
                <a:lnTo>
                  <a:pt x="0" y="22771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292084" y="3061444"/>
            <a:ext cx="29412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28906" y="3042468"/>
            <a:ext cx="1413703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docker volume rm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7943" y="3384034"/>
            <a:ext cx="5363847" cy="341566"/>
          </a:xfrm>
          <a:custGeom>
            <a:avLst/>
            <a:gdLst/>
            <a:ahLst/>
            <a:cxnLst/>
            <a:rect l="l" t="t" r="r" b="b"/>
            <a:pathLst>
              <a:path w="5363847" h="341566">
                <a:moveTo>
                  <a:pt x="25301" y="0"/>
                </a:moveTo>
                <a:lnTo>
                  <a:pt x="5325896" y="0"/>
                </a:lnTo>
                <a:cubicBezTo>
                  <a:pt x="5346856" y="0"/>
                  <a:pt x="5363847" y="16991"/>
                  <a:pt x="5363847" y="37951"/>
                </a:cubicBezTo>
                <a:lnTo>
                  <a:pt x="5363847" y="303614"/>
                </a:lnTo>
                <a:cubicBezTo>
                  <a:pt x="5363847" y="324574"/>
                  <a:pt x="5346856" y="341566"/>
                  <a:pt x="5325896" y="341566"/>
                </a:cubicBez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337943" y="3384034"/>
            <a:ext cx="25301" cy="341566"/>
          </a:xfrm>
          <a:custGeom>
            <a:avLst/>
            <a:gdLst/>
            <a:ahLst/>
            <a:cxnLst/>
            <a:rect l="l" t="t" r="r" b="b"/>
            <a:pathLst>
              <a:path w="25301" h="341566">
                <a:moveTo>
                  <a:pt x="25301" y="0"/>
                </a:moveTo>
                <a:lnTo>
                  <a:pt x="25301" y="0"/>
                </a:lnTo>
                <a:lnTo>
                  <a:pt x="25301" y="341566"/>
                </a:ln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325292" y="3384034"/>
            <a:ext cx="5417612" cy="341566"/>
          </a:xfrm>
          <a:prstGeom prst="rect">
            <a:avLst/>
          </a:prstGeom>
          <a:noFill/>
          <a:ln/>
        </p:spPr>
        <p:txBody>
          <a:bodyPr wrap="square" lIns="75904" tIns="75904" rIns="75904" bIns="75904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rm [OPTIONS] VOLUME [VOLUME...]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25292" y="3801503"/>
            <a:ext cx="5446076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-f, --force </a:t>
            </a: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Force removal of in-use volumes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37943" y="4073489"/>
            <a:ext cx="5363847" cy="341566"/>
          </a:xfrm>
          <a:custGeom>
            <a:avLst/>
            <a:gdLst/>
            <a:ahLst/>
            <a:cxnLst/>
            <a:rect l="l" t="t" r="r" b="b"/>
            <a:pathLst>
              <a:path w="5363847" h="341566">
                <a:moveTo>
                  <a:pt x="25301" y="0"/>
                </a:moveTo>
                <a:lnTo>
                  <a:pt x="5325896" y="0"/>
                </a:lnTo>
                <a:cubicBezTo>
                  <a:pt x="5346856" y="0"/>
                  <a:pt x="5363847" y="16991"/>
                  <a:pt x="5363847" y="37951"/>
                </a:cubicBezTo>
                <a:lnTo>
                  <a:pt x="5363847" y="303614"/>
                </a:lnTo>
                <a:cubicBezTo>
                  <a:pt x="5363847" y="324574"/>
                  <a:pt x="5346856" y="341566"/>
                  <a:pt x="5325896" y="341566"/>
                </a:cubicBez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337943" y="4073489"/>
            <a:ext cx="25301" cy="341566"/>
          </a:xfrm>
          <a:custGeom>
            <a:avLst/>
            <a:gdLst/>
            <a:ahLst/>
            <a:cxnLst/>
            <a:rect l="l" t="t" r="r" b="b"/>
            <a:pathLst>
              <a:path w="25301" h="341566">
                <a:moveTo>
                  <a:pt x="25301" y="0"/>
                </a:moveTo>
                <a:lnTo>
                  <a:pt x="25301" y="0"/>
                </a:lnTo>
                <a:lnTo>
                  <a:pt x="25301" y="341566"/>
                </a:ln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325292" y="4073489"/>
            <a:ext cx="5417612" cy="341566"/>
          </a:xfrm>
          <a:prstGeom prst="rect">
            <a:avLst/>
          </a:prstGeom>
          <a:noFill/>
          <a:ln/>
        </p:spPr>
        <p:txBody>
          <a:bodyPr wrap="square" lIns="75904" tIns="75904" rIns="75904" bIns="75904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rm -f myvolume oldvolume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2461" y="4642766"/>
            <a:ext cx="5626347" cy="1831172"/>
          </a:xfrm>
          <a:custGeom>
            <a:avLst/>
            <a:gdLst/>
            <a:ahLst/>
            <a:cxnLst/>
            <a:rect l="l" t="t" r="r" b="b"/>
            <a:pathLst>
              <a:path w="5626347" h="1831172">
                <a:moveTo>
                  <a:pt x="0" y="0"/>
                </a:moveTo>
                <a:lnTo>
                  <a:pt x="5626347" y="0"/>
                </a:lnTo>
                <a:lnTo>
                  <a:pt x="5626347" y="1831172"/>
                </a:lnTo>
                <a:lnTo>
                  <a:pt x="0" y="183117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192461" y="4642766"/>
            <a:ext cx="37952" cy="1831172"/>
          </a:xfrm>
          <a:custGeom>
            <a:avLst/>
            <a:gdLst/>
            <a:ahLst/>
            <a:cxnLst/>
            <a:rect l="l" t="t" r="r" b="b"/>
            <a:pathLst>
              <a:path w="37952" h="1831172">
                <a:moveTo>
                  <a:pt x="0" y="0"/>
                </a:moveTo>
                <a:lnTo>
                  <a:pt x="37952" y="0"/>
                </a:lnTo>
                <a:lnTo>
                  <a:pt x="37952" y="1831172"/>
                </a:lnTo>
                <a:lnTo>
                  <a:pt x="0" y="1831172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325292" y="4775597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0" y="0"/>
                </a:moveTo>
                <a:lnTo>
                  <a:pt x="227711" y="0"/>
                </a:lnTo>
                <a:lnTo>
                  <a:pt x="227711" y="227711"/>
                </a:lnTo>
                <a:lnTo>
                  <a:pt x="0" y="227711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292084" y="4775597"/>
            <a:ext cx="294126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28906" y="4756621"/>
            <a:ext cx="1650901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docker volume prune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37943" y="5098187"/>
            <a:ext cx="5363847" cy="341566"/>
          </a:xfrm>
          <a:custGeom>
            <a:avLst/>
            <a:gdLst/>
            <a:ahLst/>
            <a:cxnLst/>
            <a:rect l="l" t="t" r="r" b="b"/>
            <a:pathLst>
              <a:path w="5363847" h="341566">
                <a:moveTo>
                  <a:pt x="25301" y="0"/>
                </a:moveTo>
                <a:lnTo>
                  <a:pt x="5325896" y="0"/>
                </a:lnTo>
                <a:cubicBezTo>
                  <a:pt x="5346856" y="0"/>
                  <a:pt x="5363847" y="16991"/>
                  <a:pt x="5363847" y="37951"/>
                </a:cubicBezTo>
                <a:lnTo>
                  <a:pt x="5363847" y="303614"/>
                </a:lnTo>
                <a:cubicBezTo>
                  <a:pt x="5363847" y="324574"/>
                  <a:pt x="5346856" y="341566"/>
                  <a:pt x="5325896" y="341566"/>
                </a:cubicBez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337943" y="5098187"/>
            <a:ext cx="25301" cy="341566"/>
          </a:xfrm>
          <a:custGeom>
            <a:avLst/>
            <a:gdLst/>
            <a:ahLst/>
            <a:cxnLst/>
            <a:rect l="l" t="t" r="r" b="b"/>
            <a:pathLst>
              <a:path w="25301" h="341566">
                <a:moveTo>
                  <a:pt x="25301" y="0"/>
                </a:moveTo>
                <a:lnTo>
                  <a:pt x="25301" y="0"/>
                </a:lnTo>
                <a:lnTo>
                  <a:pt x="25301" y="341566"/>
                </a:ln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325292" y="5098187"/>
            <a:ext cx="5417612" cy="341566"/>
          </a:xfrm>
          <a:prstGeom prst="rect">
            <a:avLst/>
          </a:prstGeom>
          <a:noFill/>
          <a:ln/>
        </p:spPr>
        <p:txBody>
          <a:bodyPr wrap="square" lIns="75904" tIns="75904" rIns="75904" bIns="75904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prune [OPTIONS]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25292" y="5515656"/>
            <a:ext cx="5446076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--filter </a:t>
            </a: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Filter volumes to prune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25292" y="5749690"/>
            <a:ext cx="5446076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-f, --force </a:t>
            </a: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Skip confirmation prompt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37943" y="6021681"/>
            <a:ext cx="5363847" cy="341566"/>
          </a:xfrm>
          <a:custGeom>
            <a:avLst/>
            <a:gdLst/>
            <a:ahLst/>
            <a:cxnLst/>
            <a:rect l="l" t="t" r="r" b="b"/>
            <a:pathLst>
              <a:path w="5363847" h="341566">
                <a:moveTo>
                  <a:pt x="25301" y="0"/>
                </a:moveTo>
                <a:lnTo>
                  <a:pt x="5325896" y="0"/>
                </a:lnTo>
                <a:cubicBezTo>
                  <a:pt x="5346856" y="0"/>
                  <a:pt x="5363847" y="16991"/>
                  <a:pt x="5363847" y="37951"/>
                </a:cubicBezTo>
                <a:lnTo>
                  <a:pt x="5363847" y="303614"/>
                </a:lnTo>
                <a:cubicBezTo>
                  <a:pt x="5363847" y="324574"/>
                  <a:pt x="5346856" y="341566"/>
                  <a:pt x="5325896" y="341566"/>
                </a:cubicBez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337943" y="6021681"/>
            <a:ext cx="25301" cy="341566"/>
          </a:xfrm>
          <a:custGeom>
            <a:avLst/>
            <a:gdLst/>
            <a:ahLst/>
            <a:cxnLst/>
            <a:rect l="l" t="t" r="r" b="b"/>
            <a:pathLst>
              <a:path w="25301" h="341566">
                <a:moveTo>
                  <a:pt x="25301" y="0"/>
                </a:moveTo>
                <a:lnTo>
                  <a:pt x="25301" y="0"/>
                </a:lnTo>
                <a:lnTo>
                  <a:pt x="25301" y="341566"/>
                </a:lnTo>
                <a:lnTo>
                  <a:pt x="25301" y="341566"/>
                </a:lnTo>
                <a:cubicBezTo>
                  <a:pt x="11328" y="341566"/>
                  <a:pt x="0" y="330238"/>
                  <a:pt x="0" y="316265"/>
                </a:cubicBezTo>
                <a:lnTo>
                  <a:pt x="0" y="25301"/>
                </a:lnTo>
                <a:cubicBezTo>
                  <a:pt x="0" y="11337"/>
                  <a:pt x="11337" y="0"/>
                  <a:pt x="25301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325292" y="6021681"/>
            <a:ext cx="5417612" cy="341566"/>
          </a:xfrm>
          <a:prstGeom prst="rect">
            <a:avLst/>
          </a:prstGeom>
          <a:noFill/>
          <a:ln/>
        </p:spPr>
        <p:txBody>
          <a:bodyPr wrap="square" lIns="75904" tIns="75904" rIns="75904" bIns="75904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prune -f --filter label!=keep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eeksforgeeks.org/2ed60ee5437cf6e9f1bc85ae576b35d558078097.webp"/>
          <p:cNvPicPr>
            <a:picLocks noChangeAspect="1"/>
          </p:cNvPicPr>
          <p:nvPr/>
        </p:nvPicPr>
        <p:blipFill>
          <a:blip r:embed="rId3">
            <a:alphaModFix amt="20000"/>
          </a:blip>
          <a:srcRect t="10678" b="1067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2937">
                  <a:alpha val="98000"/>
                </a:srgbClr>
              </a:gs>
              <a:gs pos="50000">
                <a:srgbClr val="1F293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19526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5815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526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81000" y="294322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Mounting Volumes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 Containers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600575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-v and --mount flags with comprehensive examples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3400" y="4381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-v/--volume vs --mount Syntax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5619750" cy="1762125"/>
          </a:xfrm>
          <a:custGeom>
            <a:avLst/>
            <a:gdLst/>
            <a:ahLst/>
            <a:cxnLst/>
            <a:rect l="l" t="t" r="r" b="b"/>
            <a:pathLst>
              <a:path w="5619750" h="1762125">
                <a:moveTo>
                  <a:pt x="0" y="0"/>
                </a:moveTo>
                <a:lnTo>
                  <a:pt x="5619750" y="0"/>
                </a:lnTo>
                <a:lnTo>
                  <a:pt x="5619750" y="1762125"/>
                </a:lnTo>
                <a:lnTo>
                  <a:pt x="0" y="1762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257300"/>
            <a:ext cx="38100" cy="1762125"/>
          </a:xfrm>
          <a:custGeom>
            <a:avLst/>
            <a:gdLst/>
            <a:ahLst/>
            <a:cxnLst/>
            <a:rect l="l" t="t" r="r" b="b"/>
            <a:pathLst>
              <a:path w="38100" h="1762125">
                <a:moveTo>
                  <a:pt x="0" y="0"/>
                </a:moveTo>
                <a:lnTo>
                  <a:pt x="38100" y="0"/>
                </a:lnTo>
                <a:lnTo>
                  <a:pt x="38100" y="1762125"/>
                </a:lnTo>
                <a:lnTo>
                  <a:pt x="0" y="17621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71500" y="1409700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-v/--volume Format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4200" y="1752600"/>
            <a:ext cx="5280025" cy="342900"/>
          </a:xfrm>
          <a:custGeom>
            <a:avLst/>
            <a:gdLst/>
            <a:ahLst/>
            <a:cxnLst/>
            <a:rect l="l" t="t" r="r" b="b"/>
            <a:pathLst>
              <a:path w="5280025" h="342900">
                <a:moveTo>
                  <a:pt x="25400" y="0"/>
                </a:moveTo>
                <a:lnTo>
                  <a:pt x="5241925" y="0"/>
                </a:lnTo>
                <a:cubicBezTo>
                  <a:pt x="5262967" y="0"/>
                  <a:pt x="5280025" y="17058"/>
                  <a:pt x="5280025" y="38100"/>
                </a:cubicBezTo>
                <a:lnTo>
                  <a:pt x="5280025" y="304800"/>
                </a:lnTo>
                <a:cubicBezTo>
                  <a:pt x="5280025" y="325842"/>
                  <a:pt x="5262967" y="342900"/>
                  <a:pt x="5241925" y="342900"/>
                </a:cubicBezTo>
                <a:lnTo>
                  <a:pt x="25400" y="342900"/>
                </a:lnTo>
                <a:cubicBezTo>
                  <a:pt x="11372" y="342900"/>
                  <a:pt x="0" y="331528"/>
                  <a:pt x="0" y="3175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84200" y="1752600"/>
            <a:ext cx="25400" cy="342900"/>
          </a:xfrm>
          <a:custGeom>
            <a:avLst/>
            <a:gdLst/>
            <a:ahLst/>
            <a:cxnLst/>
            <a:rect l="l" t="t" r="r" b="b"/>
            <a:pathLst>
              <a:path w="25400" h="342900">
                <a:moveTo>
                  <a:pt x="25400" y="0"/>
                </a:moveTo>
                <a:lnTo>
                  <a:pt x="25400" y="0"/>
                </a:lnTo>
                <a:lnTo>
                  <a:pt x="25400" y="342900"/>
                </a:lnTo>
                <a:lnTo>
                  <a:pt x="25400" y="342900"/>
                </a:lnTo>
                <a:cubicBezTo>
                  <a:pt x="11372" y="342900"/>
                  <a:pt x="0" y="331528"/>
                  <a:pt x="0" y="3175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71500" y="1752600"/>
            <a:ext cx="5334000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[volume-name|:][host-path:][container-path][:options]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209800"/>
            <a:ext cx="53625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form:</a:t>
            </a:r>
            <a:r>
              <a:rPr lang="en-US" sz="1050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-v 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 </a:t>
            </a:r>
            <a:r>
              <a:rPr lang="en-US" sz="1050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--volume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444753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matters: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fields are positional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673353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Options: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ro, rw, volume-nocopy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0" y="1257300"/>
            <a:ext cx="5619750" cy="1762125"/>
          </a:xfrm>
          <a:custGeom>
            <a:avLst/>
            <a:gdLst/>
            <a:ahLst/>
            <a:cxnLst/>
            <a:rect l="l" t="t" r="r" b="b"/>
            <a:pathLst>
              <a:path w="5619750" h="1762125">
                <a:moveTo>
                  <a:pt x="0" y="0"/>
                </a:moveTo>
                <a:lnTo>
                  <a:pt x="5619750" y="0"/>
                </a:lnTo>
                <a:lnTo>
                  <a:pt x="5619750" y="1762125"/>
                </a:lnTo>
                <a:lnTo>
                  <a:pt x="0" y="1762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91250" y="1257300"/>
            <a:ext cx="38100" cy="1762125"/>
          </a:xfrm>
          <a:custGeom>
            <a:avLst/>
            <a:gdLst/>
            <a:ahLst/>
            <a:cxnLst/>
            <a:rect l="l" t="t" r="r" b="b"/>
            <a:pathLst>
              <a:path w="38100" h="1762125">
                <a:moveTo>
                  <a:pt x="0" y="0"/>
                </a:moveTo>
                <a:lnTo>
                  <a:pt x="38100" y="0"/>
                </a:lnTo>
                <a:lnTo>
                  <a:pt x="38100" y="1762125"/>
                </a:lnTo>
                <a:lnTo>
                  <a:pt x="0" y="176212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62700" y="1409700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--mount Format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75400" y="1752600"/>
            <a:ext cx="5280025" cy="342900"/>
          </a:xfrm>
          <a:custGeom>
            <a:avLst/>
            <a:gdLst/>
            <a:ahLst/>
            <a:cxnLst/>
            <a:rect l="l" t="t" r="r" b="b"/>
            <a:pathLst>
              <a:path w="5280025" h="342900">
                <a:moveTo>
                  <a:pt x="25400" y="0"/>
                </a:moveTo>
                <a:lnTo>
                  <a:pt x="5241925" y="0"/>
                </a:lnTo>
                <a:cubicBezTo>
                  <a:pt x="5262967" y="0"/>
                  <a:pt x="5280025" y="17058"/>
                  <a:pt x="5280025" y="38100"/>
                </a:cubicBezTo>
                <a:lnTo>
                  <a:pt x="5280025" y="304800"/>
                </a:lnTo>
                <a:cubicBezTo>
                  <a:pt x="5280025" y="325842"/>
                  <a:pt x="5262967" y="342900"/>
                  <a:pt x="5241925" y="342900"/>
                </a:cubicBezTo>
                <a:lnTo>
                  <a:pt x="25400" y="342900"/>
                </a:lnTo>
                <a:cubicBezTo>
                  <a:pt x="11372" y="342900"/>
                  <a:pt x="0" y="331528"/>
                  <a:pt x="0" y="3175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75400" y="1752600"/>
            <a:ext cx="25400" cy="342900"/>
          </a:xfrm>
          <a:custGeom>
            <a:avLst/>
            <a:gdLst/>
            <a:ahLst/>
            <a:cxnLst/>
            <a:rect l="l" t="t" r="r" b="b"/>
            <a:pathLst>
              <a:path w="25400" h="342900">
                <a:moveTo>
                  <a:pt x="25400" y="0"/>
                </a:moveTo>
                <a:lnTo>
                  <a:pt x="25400" y="0"/>
                </a:lnTo>
                <a:lnTo>
                  <a:pt x="25400" y="342900"/>
                </a:lnTo>
                <a:lnTo>
                  <a:pt x="25400" y="342900"/>
                </a:lnTo>
                <a:cubicBezTo>
                  <a:pt x="11372" y="342900"/>
                  <a:pt x="0" y="331528"/>
                  <a:pt x="0" y="3175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62700" y="1752600"/>
            <a:ext cx="5334000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type=volume|bind|tmpfs,source=,target=,readonly,...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2700" y="220980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 syntax: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Key=value pairs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2700" y="243840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doesn't matter: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verbose but clearer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62700" y="266700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Recommended: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production and scripts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3130553"/>
            <a:ext cx="11430000" cy="1485900"/>
          </a:xfrm>
          <a:custGeom>
            <a:avLst/>
            <a:gdLst/>
            <a:ahLst/>
            <a:cxnLst/>
            <a:rect l="l" t="t" r="r" b="b"/>
            <a:pathLst>
              <a:path w="11430000" h="1485900">
                <a:moveTo>
                  <a:pt x="0" y="0"/>
                </a:moveTo>
                <a:lnTo>
                  <a:pt x="11430000" y="0"/>
                </a:lnTo>
                <a:lnTo>
                  <a:pt x="114300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5300" y="3244853"/>
            <a:ext cx="1128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Equivalent Commands Comparison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5300" y="3587753"/>
            <a:ext cx="561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-v Syntax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8000" y="3816353"/>
            <a:ext cx="5527675" cy="685800"/>
          </a:xfrm>
          <a:custGeom>
            <a:avLst/>
            <a:gdLst/>
            <a:ahLst/>
            <a:cxnLst/>
            <a:rect l="l" t="t" r="r" b="b"/>
            <a:pathLst>
              <a:path w="5527675" h="685800">
                <a:moveTo>
                  <a:pt x="25400" y="0"/>
                </a:moveTo>
                <a:lnTo>
                  <a:pt x="5489572" y="0"/>
                </a:lnTo>
                <a:cubicBezTo>
                  <a:pt x="5510616" y="0"/>
                  <a:pt x="5527675" y="17059"/>
                  <a:pt x="5527675" y="38103"/>
                </a:cubicBezTo>
                <a:lnTo>
                  <a:pt x="5527675" y="647697"/>
                </a:lnTo>
                <a:cubicBezTo>
                  <a:pt x="5527675" y="668741"/>
                  <a:pt x="5510616" y="685800"/>
                  <a:pt x="5489572" y="685800"/>
                </a:cubicBezTo>
                <a:lnTo>
                  <a:pt x="25400" y="685800"/>
                </a:lnTo>
                <a:cubicBezTo>
                  <a:pt x="11372" y="685800"/>
                  <a:pt x="0" y="674428"/>
                  <a:pt x="0" y="660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08000" y="3816353"/>
            <a:ext cx="25400" cy="685800"/>
          </a:xfrm>
          <a:custGeom>
            <a:avLst/>
            <a:gdLst/>
            <a:ahLst/>
            <a:cxnLst/>
            <a:rect l="l" t="t" r="r" b="b"/>
            <a:pathLst>
              <a:path w="25400" h="685800">
                <a:moveTo>
                  <a:pt x="25400" y="0"/>
                </a:moveTo>
                <a:lnTo>
                  <a:pt x="25400" y="0"/>
                </a:lnTo>
                <a:lnTo>
                  <a:pt x="25400" y="685800"/>
                </a:lnTo>
                <a:lnTo>
                  <a:pt x="25400" y="685800"/>
                </a:lnTo>
                <a:cubicBezTo>
                  <a:pt x="11372" y="685800"/>
                  <a:pt x="0" y="674428"/>
                  <a:pt x="0" y="660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6900" y="3892553"/>
            <a:ext cx="541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-v myvol:/data nginx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6900" y="4083053"/>
            <a:ext cx="541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-v /host/data:/data:ro nginx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6900" y="4273553"/>
            <a:ext cx="541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-v type=bind,src=/data,dst=/app nginx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53150" y="3587753"/>
            <a:ext cx="561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--mount Syntax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65850" y="3816353"/>
            <a:ext cx="5527675" cy="685800"/>
          </a:xfrm>
          <a:custGeom>
            <a:avLst/>
            <a:gdLst/>
            <a:ahLst/>
            <a:cxnLst/>
            <a:rect l="l" t="t" r="r" b="b"/>
            <a:pathLst>
              <a:path w="5527675" h="685800">
                <a:moveTo>
                  <a:pt x="25400" y="0"/>
                </a:moveTo>
                <a:lnTo>
                  <a:pt x="5489572" y="0"/>
                </a:lnTo>
                <a:cubicBezTo>
                  <a:pt x="5510616" y="0"/>
                  <a:pt x="5527675" y="17059"/>
                  <a:pt x="5527675" y="38103"/>
                </a:cubicBezTo>
                <a:lnTo>
                  <a:pt x="5527675" y="647697"/>
                </a:lnTo>
                <a:cubicBezTo>
                  <a:pt x="5527675" y="668741"/>
                  <a:pt x="5510616" y="685800"/>
                  <a:pt x="5489572" y="685800"/>
                </a:cubicBezTo>
                <a:lnTo>
                  <a:pt x="25400" y="685800"/>
                </a:lnTo>
                <a:cubicBezTo>
                  <a:pt x="11372" y="685800"/>
                  <a:pt x="0" y="674428"/>
                  <a:pt x="0" y="660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165850" y="3816353"/>
            <a:ext cx="25400" cy="685800"/>
          </a:xfrm>
          <a:custGeom>
            <a:avLst/>
            <a:gdLst/>
            <a:ahLst/>
            <a:cxnLst/>
            <a:rect l="l" t="t" r="r" b="b"/>
            <a:pathLst>
              <a:path w="25400" h="685800">
                <a:moveTo>
                  <a:pt x="25400" y="0"/>
                </a:moveTo>
                <a:lnTo>
                  <a:pt x="25400" y="0"/>
                </a:lnTo>
                <a:lnTo>
                  <a:pt x="25400" y="685800"/>
                </a:lnTo>
                <a:lnTo>
                  <a:pt x="25400" y="685800"/>
                </a:lnTo>
                <a:cubicBezTo>
                  <a:pt x="11372" y="685800"/>
                  <a:pt x="0" y="674428"/>
                  <a:pt x="0" y="660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254750" y="3892553"/>
            <a:ext cx="541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--mount source=myvol,target=/data nginx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54750" y="4083053"/>
            <a:ext cx="541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--mount type=bind,src=/host/data,target=/data,readonly nginx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54750" y="4273553"/>
            <a:ext cx="541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--mount type=bind,src=/data,target=/app nginx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0050" y="4730753"/>
            <a:ext cx="3714750" cy="1143000"/>
          </a:xfrm>
          <a:custGeom>
            <a:avLst/>
            <a:gdLst/>
            <a:ahLst/>
            <a:cxnLst/>
            <a:rect l="l" t="t" r="r" b="b"/>
            <a:pathLst>
              <a:path w="3714750" h="1143000">
                <a:moveTo>
                  <a:pt x="0" y="0"/>
                </a:moveTo>
                <a:lnTo>
                  <a:pt x="3714750" y="0"/>
                </a:lnTo>
                <a:lnTo>
                  <a:pt x="37147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00050" y="473075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33400" y="4845053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Read-Only Mount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6100" y="5111753"/>
            <a:ext cx="3451225" cy="304800"/>
          </a:xfrm>
          <a:custGeom>
            <a:avLst/>
            <a:gdLst/>
            <a:ahLst/>
            <a:cxnLst/>
            <a:rect l="l" t="t" r="r" b="b"/>
            <a:pathLst>
              <a:path w="3451225" h="304800">
                <a:moveTo>
                  <a:pt x="25400" y="0"/>
                </a:moveTo>
                <a:lnTo>
                  <a:pt x="3413125" y="0"/>
                </a:lnTo>
                <a:cubicBezTo>
                  <a:pt x="3434153" y="0"/>
                  <a:pt x="3451225" y="17072"/>
                  <a:pt x="3451225" y="38100"/>
                </a:cubicBezTo>
                <a:lnTo>
                  <a:pt x="3451225" y="266700"/>
                </a:lnTo>
                <a:cubicBezTo>
                  <a:pt x="3451225" y="287728"/>
                  <a:pt x="3434153" y="304800"/>
                  <a:pt x="3413125" y="304800"/>
                </a:cubicBez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46100" y="5111753"/>
            <a:ext cx="25400" cy="304800"/>
          </a:xfrm>
          <a:custGeom>
            <a:avLst/>
            <a:gdLst/>
            <a:ahLst/>
            <a:cxnLst/>
            <a:rect l="l" t="t" r="r" b="b"/>
            <a:pathLst>
              <a:path w="25400" h="304800">
                <a:moveTo>
                  <a:pt x="25400" y="0"/>
                </a:moveTo>
                <a:lnTo>
                  <a:pt x="25400" y="0"/>
                </a:lnTo>
                <a:lnTo>
                  <a:pt x="25400" y="304800"/>
                </a:ln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33400" y="5111753"/>
            <a:ext cx="3495675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-v data:/app:ro nginx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3400" y="5454653"/>
            <a:ext cx="3524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container from modifying data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48150" y="4730753"/>
            <a:ext cx="3714750" cy="1143000"/>
          </a:xfrm>
          <a:custGeom>
            <a:avLst/>
            <a:gdLst/>
            <a:ahLst/>
            <a:cxnLst/>
            <a:rect l="l" t="t" r="r" b="b"/>
            <a:pathLst>
              <a:path w="3714750" h="1143000">
                <a:moveTo>
                  <a:pt x="0" y="0"/>
                </a:moveTo>
                <a:lnTo>
                  <a:pt x="3714750" y="0"/>
                </a:lnTo>
                <a:lnTo>
                  <a:pt x="37147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248150" y="473075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381500" y="4845053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Multiple Volumes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394200" y="5111753"/>
            <a:ext cx="3451225" cy="304800"/>
          </a:xfrm>
          <a:custGeom>
            <a:avLst/>
            <a:gdLst/>
            <a:ahLst/>
            <a:cxnLst/>
            <a:rect l="l" t="t" r="r" b="b"/>
            <a:pathLst>
              <a:path w="3451225" h="304800">
                <a:moveTo>
                  <a:pt x="25400" y="0"/>
                </a:moveTo>
                <a:lnTo>
                  <a:pt x="3413125" y="0"/>
                </a:lnTo>
                <a:cubicBezTo>
                  <a:pt x="3434153" y="0"/>
                  <a:pt x="3451225" y="17072"/>
                  <a:pt x="3451225" y="38100"/>
                </a:cubicBezTo>
                <a:lnTo>
                  <a:pt x="3451225" y="266700"/>
                </a:lnTo>
                <a:cubicBezTo>
                  <a:pt x="3451225" y="287728"/>
                  <a:pt x="3434153" y="304800"/>
                  <a:pt x="3413125" y="304800"/>
                </a:cubicBez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394200" y="5111753"/>
            <a:ext cx="25400" cy="304800"/>
          </a:xfrm>
          <a:custGeom>
            <a:avLst/>
            <a:gdLst/>
            <a:ahLst/>
            <a:cxnLst/>
            <a:rect l="l" t="t" r="r" b="b"/>
            <a:pathLst>
              <a:path w="25400" h="304800">
                <a:moveTo>
                  <a:pt x="25400" y="0"/>
                </a:moveTo>
                <a:lnTo>
                  <a:pt x="25400" y="0"/>
                </a:lnTo>
                <a:lnTo>
                  <a:pt x="25400" y="304800"/>
                </a:ln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381500" y="5111753"/>
            <a:ext cx="3495675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-v v1:/data -v v2:/config nginx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381500" y="5454653"/>
            <a:ext cx="3524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Mount multiple volumes in one command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096250" y="4730753"/>
            <a:ext cx="3714750" cy="1143000"/>
          </a:xfrm>
          <a:custGeom>
            <a:avLst/>
            <a:gdLst/>
            <a:ahLst/>
            <a:cxnLst/>
            <a:rect l="l" t="t" r="r" b="b"/>
            <a:pathLst>
              <a:path w="3714750" h="1143000">
                <a:moveTo>
                  <a:pt x="0" y="0"/>
                </a:moveTo>
                <a:lnTo>
                  <a:pt x="3714750" y="0"/>
                </a:lnTo>
                <a:lnTo>
                  <a:pt x="37147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8096250" y="473075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229600" y="4845053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tmpfs Mount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42300" y="5111753"/>
            <a:ext cx="3451225" cy="457200"/>
          </a:xfrm>
          <a:custGeom>
            <a:avLst/>
            <a:gdLst/>
            <a:ahLst/>
            <a:cxnLst/>
            <a:rect l="l" t="t" r="r" b="b"/>
            <a:pathLst>
              <a:path w="3451225" h="457200">
                <a:moveTo>
                  <a:pt x="25400" y="0"/>
                </a:moveTo>
                <a:lnTo>
                  <a:pt x="3413127" y="0"/>
                </a:lnTo>
                <a:cubicBezTo>
                  <a:pt x="3434168" y="0"/>
                  <a:pt x="3451225" y="17057"/>
                  <a:pt x="3451225" y="38098"/>
                </a:cubicBezTo>
                <a:lnTo>
                  <a:pt x="3451225" y="419102"/>
                </a:lnTo>
                <a:cubicBezTo>
                  <a:pt x="3451225" y="440143"/>
                  <a:pt x="3434168" y="457200"/>
                  <a:pt x="3413127" y="457200"/>
                </a:cubicBezTo>
                <a:lnTo>
                  <a:pt x="25400" y="457200"/>
                </a:lnTo>
                <a:cubicBezTo>
                  <a:pt x="11372" y="457200"/>
                  <a:pt x="0" y="445828"/>
                  <a:pt x="0" y="4318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8242300" y="5111753"/>
            <a:ext cx="25400" cy="457200"/>
          </a:xfrm>
          <a:custGeom>
            <a:avLst/>
            <a:gdLst/>
            <a:ahLst/>
            <a:cxnLst/>
            <a:rect l="l" t="t" r="r" b="b"/>
            <a:pathLst>
              <a:path w="25400" h="457200">
                <a:moveTo>
                  <a:pt x="25400" y="0"/>
                </a:moveTo>
                <a:lnTo>
                  <a:pt x="25400" y="0"/>
                </a:lnTo>
                <a:lnTo>
                  <a:pt x="25400" y="457200"/>
                </a:lnTo>
                <a:lnTo>
                  <a:pt x="25400" y="457200"/>
                </a:lnTo>
                <a:cubicBezTo>
                  <a:pt x="11372" y="457200"/>
                  <a:pt x="0" y="445828"/>
                  <a:pt x="0" y="4318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229600" y="5111753"/>
            <a:ext cx="3495675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--mount type=tmpfs,target=/cache nginx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29600" y="5607053"/>
            <a:ext cx="3524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RAM-based storage, never persisted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23f7329a1dceb4bdf64a093ecd63cd4894f115b7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36" r="3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2937">
                  <a:alpha val="98000"/>
                </a:srgbClr>
              </a:gs>
              <a:gs pos="50000">
                <a:srgbClr val="1F293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19526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8969" y="2105025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526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81000" y="294322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Docker Compose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Configuration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600575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Declarative volume management in multi-container applications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3400" y="4381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Compose Volume Syntax and Options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5619750" cy="2705100"/>
          </a:xfrm>
          <a:custGeom>
            <a:avLst/>
            <a:gdLst/>
            <a:ahLst/>
            <a:cxnLst/>
            <a:rect l="l" t="t" r="r" b="b"/>
            <a:pathLst>
              <a:path w="5619750" h="2705100">
                <a:moveTo>
                  <a:pt x="0" y="0"/>
                </a:moveTo>
                <a:lnTo>
                  <a:pt x="5619750" y="0"/>
                </a:lnTo>
                <a:lnTo>
                  <a:pt x="5619750" y="2705100"/>
                </a:lnTo>
                <a:lnTo>
                  <a:pt x="0" y="27051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181100"/>
            <a:ext cx="38100" cy="2705100"/>
          </a:xfrm>
          <a:custGeom>
            <a:avLst/>
            <a:gdLst/>
            <a:ahLst/>
            <a:cxnLst/>
            <a:rect l="l" t="t" r="r" b="b"/>
            <a:pathLst>
              <a:path w="38100" h="2705100">
                <a:moveTo>
                  <a:pt x="0" y="0"/>
                </a:moveTo>
                <a:lnTo>
                  <a:pt x="38100" y="0"/>
                </a:lnTo>
                <a:lnTo>
                  <a:pt x="38100" y="2705100"/>
                </a:lnTo>
                <a:lnTo>
                  <a:pt x="0" y="2705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3400" y="12954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Named Volumes in Compose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6100" y="1638300"/>
            <a:ext cx="5356225" cy="2133600"/>
          </a:xfrm>
          <a:custGeom>
            <a:avLst/>
            <a:gdLst/>
            <a:ahLst/>
            <a:cxnLst/>
            <a:rect l="l" t="t" r="r" b="b"/>
            <a:pathLst>
              <a:path w="5356225" h="2133600">
                <a:moveTo>
                  <a:pt x="25400" y="0"/>
                </a:moveTo>
                <a:lnTo>
                  <a:pt x="5318119" y="0"/>
                </a:lnTo>
                <a:cubicBezTo>
                  <a:pt x="5339164" y="0"/>
                  <a:pt x="5356225" y="17061"/>
                  <a:pt x="5356225" y="38106"/>
                </a:cubicBezTo>
                <a:lnTo>
                  <a:pt x="5356225" y="2095494"/>
                </a:lnTo>
                <a:cubicBezTo>
                  <a:pt x="5356225" y="2116539"/>
                  <a:pt x="5339164" y="2133600"/>
                  <a:pt x="5318119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6100" y="1638300"/>
            <a:ext cx="25400" cy="2133600"/>
          </a:xfrm>
          <a:custGeom>
            <a:avLst/>
            <a:gdLst/>
            <a:ahLst/>
            <a:cxnLst/>
            <a:rect l="l" t="t" r="r" b="b"/>
            <a:pathLst>
              <a:path w="25400" h="2133600">
                <a:moveTo>
                  <a:pt x="25400" y="0"/>
                </a:moveTo>
                <a:lnTo>
                  <a:pt x="25400" y="0"/>
                </a:lnTo>
                <a:lnTo>
                  <a:pt x="25400" y="2133600"/>
                </a:ln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5000" y="1714500"/>
            <a:ext cx="5248275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volumes: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db_data: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driver: local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driver_opts: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type: nfs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o: addr=192.168.1.100,rw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device: ":/data/db"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mysql: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image: mysql:8.0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volumes: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- db_data:/var/lib/mysql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4000500"/>
            <a:ext cx="5619750" cy="1790700"/>
          </a:xfrm>
          <a:custGeom>
            <a:avLst/>
            <a:gdLst/>
            <a:ahLst/>
            <a:cxnLst/>
            <a:rect l="l" t="t" r="r" b="b"/>
            <a:pathLst>
              <a:path w="5619750" h="1790700">
                <a:moveTo>
                  <a:pt x="0" y="0"/>
                </a:moveTo>
                <a:lnTo>
                  <a:pt x="5619750" y="0"/>
                </a:lnTo>
                <a:lnTo>
                  <a:pt x="5619750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00050" y="4000500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3400" y="41148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Bind Mounts in Compose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6100" y="4457700"/>
            <a:ext cx="5356225" cy="1219200"/>
          </a:xfrm>
          <a:custGeom>
            <a:avLst/>
            <a:gdLst/>
            <a:ahLst/>
            <a:cxnLst/>
            <a:rect l="l" t="t" r="r" b="b"/>
            <a:pathLst>
              <a:path w="5356225" h="1219200">
                <a:moveTo>
                  <a:pt x="25400" y="0"/>
                </a:moveTo>
                <a:lnTo>
                  <a:pt x="5318125" y="0"/>
                </a:lnTo>
                <a:cubicBezTo>
                  <a:pt x="5339153" y="0"/>
                  <a:pt x="5356225" y="17072"/>
                  <a:pt x="5356225" y="38100"/>
                </a:cubicBezTo>
                <a:lnTo>
                  <a:pt x="5356225" y="1181100"/>
                </a:lnTo>
                <a:cubicBezTo>
                  <a:pt x="5356225" y="1202128"/>
                  <a:pt x="5339153" y="1219200"/>
                  <a:pt x="5318125" y="1219200"/>
                </a:cubicBezTo>
                <a:lnTo>
                  <a:pt x="25400" y="1219200"/>
                </a:lnTo>
                <a:cubicBezTo>
                  <a:pt x="11372" y="1219200"/>
                  <a:pt x="0" y="1207828"/>
                  <a:pt x="0" y="11938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6100" y="4457700"/>
            <a:ext cx="25400" cy="1219200"/>
          </a:xfrm>
          <a:custGeom>
            <a:avLst/>
            <a:gdLst/>
            <a:ahLst/>
            <a:cxnLst/>
            <a:rect l="l" t="t" r="r" b="b"/>
            <a:pathLst>
              <a:path w="25400" h="1219200">
                <a:moveTo>
                  <a:pt x="25400" y="0"/>
                </a:moveTo>
                <a:lnTo>
                  <a:pt x="25400" y="0"/>
                </a:lnTo>
                <a:lnTo>
                  <a:pt x="25400" y="1219200"/>
                </a:lnTo>
                <a:lnTo>
                  <a:pt x="25400" y="1219200"/>
                </a:lnTo>
                <a:cubicBezTo>
                  <a:pt x="11372" y="1219200"/>
                  <a:pt x="0" y="1207828"/>
                  <a:pt x="0" y="11938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5000" y="4533900"/>
            <a:ext cx="524827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web: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image: nginx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volumes: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- ./html:/usr/share/nginx/html:ro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- ./nginx.conf:/etc/nginx/nginx.conf:ro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- /var/log/nginx:/var/log/nginx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0" y="1181100"/>
            <a:ext cx="5619750" cy="1676400"/>
          </a:xfrm>
          <a:custGeom>
            <a:avLst/>
            <a:gdLst/>
            <a:ahLst/>
            <a:cxnLst/>
            <a:rect l="l" t="t" r="r" b="b"/>
            <a:pathLst>
              <a:path w="5619750" h="1676400">
                <a:moveTo>
                  <a:pt x="0" y="0"/>
                </a:moveTo>
                <a:lnTo>
                  <a:pt x="5619750" y="0"/>
                </a:lnTo>
                <a:lnTo>
                  <a:pt x="561975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91250" y="11811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24600" y="12954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Options Reference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4600" y="16383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driver 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Volume driver (default: local)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24600" y="18669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driver_opts 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Driver-specific options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24600" y="20955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external 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Use pre-existing volume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24600" y="23241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labels 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Metadata for organization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4600" y="25527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name 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Custom volume name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0" y="2971800"/>
            <a:ext cx="5619750" cy="2286000"/>
          </a:xfrm>
          <a:custGeom>
            <a:avLst/>
            <a:gdLst/>
            <a:ahLst/>
            <a:cxnLst/>
            <a:rect l="l" t="t" r="r" b="b"/>
            <a:pathLst>
              <a:path w="5619750" h="2286000">
                <a:moveTo>
                  <a:pt x="0" y="0"/>
                </a:moveTo>
                <a:lnTo>
                  <a:pt x="5619750" y="0"/>
                </a:lnTo>
                <a:lnTo>
                  <a:pt x="561975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191250" y="2971800"/>
            <a:ext cx="38100" cy="2286000"/>
          </a:xfrm>
          <a:custGeom>
            <a:avLst/>
            <a:gdLst/>
            <a:ahLst/>
            <a:cxnLst/>
            <a:rect l="l" t="t" r="r" b="b"/>
            <a:pathLst>
              <a:path w="38100" h="2286000">
                <a:moveTo>
                  <a:pt x="0" y="0"/>
                </a:moveTo>
                <a:lnTo>
                  <a:pt x="38100" y="0"/>
                </a:lnTo>
                <a:lnTo>
                  <a:pt x="381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24600" y="30861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External Volumes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7300" y="3429000"/>
            <a:ext cx="5356225" cy="1524000"/>
          </a:xfrm>
          <a:custGeom>
            <a:avLst/>
            <a:gdLst/>
            <a:ahLst/>
            <a:cxnLst/>
            <a:rect l="l" t="t" r="r" b="b"/>
            <a:pathLst>
              <a:path w="5356225" h="1524000">
                <a:moveTo>
                  <a:pt x="25400" y="0"/>
                </a:moveTo>
                <a:lnTo>
                  <a:pt x="5318125" y="0"/>
                </a:lnTo>
                <a:cubicBezTo>
                  <a:pt x="5339153" y="0"/>
                  <a:pt x="5356225" y="17072"/>
                  <a:pt x="5356225" y="38100"/>
                </a:cubicBezTo>
                <a:lnTo>
                  <a:pt x="5356225" y="1485900"/>
                </a:lnTo>
                <a:cubicBezTo>
                  <a:pt x="5356225" y="1506928"/>
                  <a:pt x="5339153" y="1524000"/>
                  <a:pt x="5318125" y="1524000"/>
                </a:cubicBezTo>
                <a:lnTo>
                  <a:pt x="25400" y="1524000"/>
                </a:lnTo>
                <a:cubicBezTo>
                  <a:pt x="11372" y="1524000"/>
                  <a:pt x="0" y="1512628"/>
                  <a:pt x="0" y="14986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337300" y="3429000"/>
            <a:ext cx="25400" cy="1524000"/>
          </a:xfrm>
          <a:custGeom>
            <a:avLst/>
            <a:gdLst/>
            <a:ahLst/>
            <a:cxnLst/>
            <a:rect l="l" t="t" r="r" b="b"/>
            <a:pathLst>
              <a:path w="25400" h="1524000">
                <a:moveTo>
                  <a:pt x="25400" y="0"/>
                </a:moveTo>
                <a:lnTo>
                  <a:pt x="25400" y="0"/>
                </a:lnTo>
                <a:lnTo>
                  <a:pt x="25400" y="1524000"/>
                </a:lnTo>
                <a:lnTo>
                  <a:pt x="25400" y="1524000"/>
                </a:lnTo>
                <a:cubicBezTo>
                  <a:pt x="11372" y="1524000"/>
                  <a:pt x="0" y="1512628"/>
                  <a:pt x="0" y="14986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26200" y="3505200"/>
            <a:ext cx="52482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volumes: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production_db: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external: true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name: "prod_postgres_data"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app: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volumes: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- production_db:/var/lib/postgresql/data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24600" y="4991100"/>
            <a:ext cx="542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volumes created outside Compose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0050" y="5867400"/>
            <a:ext cx="11410950" cy="352425"/>
          </a:xfrm>
          <a:custGeom>
            <a:avLst/>
            <a:gdLst/>
            <a:ahLst/>
            <a:cxnLst/>
            <a:rect l="l" t="t" r="r" b="b"/>
            <a:pathLst>
              <a:path w="11410950" h="352425">
                <a:moveTo>
                  <a:pt x="0" y="0"/>
                </a:moveTo>
                <a:lnTo>
                  <a:pt x="11410950" y="0"/>
                </a:lnTo>
                <a:lnTo>
                  <a:pt x="1141095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00050" y="5867400"/>
            <a:ext cx="38100" cy="352425"/>
          </a:xfrm>
          <a:custGeom>
            <a:avLst/>
            <a:gdLst/>
            <a:ahLst/>
            <a:cxnLst/>
            <a:rect l="l" t="t" r="r" b="b"/>
            <a:pathLst>
              <a:path w="38100" h="352425">
                <a:moveTo>
                  <a:pt x="0" y="0"/>
                </a:moveTo>
                <a:lnTo>
                  <a:pt x="38100" y="0"/>
                </a:lnTo>
                <a:lnTo>
                  <a:pt x="381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31019" y="597535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23900" y="5943600"/>
            <a:ext cx="110775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define volumes in the top-level </a:t>
            </a:r>
            <a:r>
              <a:rPr lang="en-US" sz="1050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volumes: 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for named volumes. Use bind mounts with relative paths for development and absolute paths for production configs.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8f09114f36ff5400320c3fb621e24f383ff5889a.jp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2937">
                  <a:alpha val="98000"/>
                </a:srgbClr>
              </a:gs>
              <a:gs pos="50000">
                <a:srgbClr val="1F293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19526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5992" y="2105025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526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81000" y="294322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Drivers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 Plugins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600575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Extending Docker storage with third-party drivers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3400" y="438150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Drivers and Storage Plugins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5619750" cy="1943100"/>
          </a:xfrm>
          <a:custGeom>
            <a:avLst/>
            <a:gdLst/>
            <a:ahLst/>
            <a:cxnLst/>
            <a:rect l="l" t="t" r="r" b="b"/>
            <a:pathLst>
              <a:path w="5619750" h="1943100">
                <a:moveTo>
                  <a:pt x="0" y="0"/>
                </a:moveTo>
                <a:lnTo>
                  <a:pt x="5619750" y="0"/>
                </a:lnTo>
                <a:lnTo>
                  <a:pt x="561975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181100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3400" y="12954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Built-in local Driver Options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16383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NFS Volume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6100" y="1828800"/>
            <a:ext cx="5356225" cy="457200"/>
          </a:xfrm>
          <a:custGeom>
            <a:avLst/>
            <a:gdLst/>
            <a:ahLst/>
            <a:cxnLst/>
            <a:rect l="l" t="t" r="r" b="b"/>
            <a:pathLst>
              <a:path w="5356225" h="457200">
                <a:moveTo>
                  <a:pt x="25400" y="0"/>
                </a:moveTo>
                <a:lnTo>
                  <a:pt x="5318127" y="0"/>
                </a:lnTo>
                <a:cubicBezTo>
                  <a:pt x="5339168" y="0"/>
                  <a:pt x="5356225" y="17057"/>
                  <a:pt x="5356225" y="38098"/>
                </a:cubicBezTo>
                <a:lnTo>
                  <a:pt x="5356225" y="419102"/>
                </a:lnTo>
                <a:cubicBezTo>
                  <a:pt x="5356225" y="440143"/>
                  <a:pt x="5339168" y="457200"/>
                  <a:pt x="5318127" y="457200"/>
                </a:cubicBezTo>
                <a:lnTo>
                  <a:pt x="25400" y="457200"/>
                </a:lnTo>
                <a:cubicBezTo>
                  <a:pt x="11372" y="457200"/>
                  <a:pt x="0" y="445828"/>
                  <a:pt x="0" y="4318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6100" y="1828800"/>
            <a:ext cx="25400" cy="457200"/>
          </a:xfrm>
          <a:custGeom>
            <a:avLst/>
            <a:gdLst/>
            <a:ahLst/>
            <a:cxnLst/>
            <a:rect l="l" t="t" r="r" b="b"/>
            <a:pathLst>
              <a:path w="25400" h="457200">
                <a:moveTo>
                  <a:pt x="25400" y="0"/>
                </a:moveTo>
                <a:lnTo>
                  <a:pt x="25400" y="0"/>
                </a:lnTo>
                <a:lnTo>
                  <a:pt x="25400" y="457200"/>
                </a:lnTo>
                <a:lnTo>
                  <a:pt x="25400" y="457200"/>
                </a:lnTo>
                <a:cubicBezTo>
                  <a:pt x="11372" y="457200"/>
                  <a:pt x="0" y="445828"/>
                  <a:pt x="0" y="4318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3400" y="1828800"/>
            <a:ext cx="5400675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create -d local \ -o type=nfs \ -o o=addr=192.168.1.100,rw \ -o device=:/exports/data \ nfs_volume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23622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CIFS/Samba Volume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6100" y="2552700"/>
            <a:ext cx="5356225" cy="457200"/>
          </a:xfrm>
          <a:custGeom>
            <a:avLst/>
            <a:gdLst/>
            <a:ahLst/>
            <a:cxnLst/>
            <a:rect l="l" t="t" r="r" b="b"/>
            <a:pathLst>
              <a:path w="5356225" h="457200">
                <a:moveTo>
                  <a:pt x="25400" y="0"/>
                </a:moveTo>
                <a:lnTo>
                  <a:pt x="5318127" y="0"/>
                </a:lnTo>
                <a:cubicBezTo>
                  <a:pt x="5339168" y="0"/>
                  <a:pt x="5356225" y="17057"/>
                  <a:pt x="5356225" y="38098"/>
                </a:cubicBezTo>
                <a:lnTo>
                  <a:pt x="5356225" y="419102"/>
                </a:lnTo>
                <a:cubicBezTo>
                  <a:pt x="5356225" y="440143"/>
                  <a:pt x="5339168" y="457200"/>
                  <a:pt x="5318127" y="457200"/>
                </a:cubicBezTo>
                <a:lnTo>
                  <a:pt x="25400" y="457200"/>
                </a:lnTo>
                <a:cubicBezTo>
                  <a:pt x="11372" y="457200"/>
                  <a:pt x="0" y="445828"/>
                  <a:pt x="0" y="4318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6100" y="2552700"/>
            <a:ext cx="25400" cy="457200"/>
          </a:xfrm>
          <a:custGeom>
            <a:avLst/>
            <a:gdLst/>
            <a:ahLst/>
            <a:cxnLst/>
            <a:rect l="l" t="t" r="r" b="b"/>
            <a:pathLst>
              <a:path w="25400" h="457200">
                <a:moveTo>
                  <a:pt x="25400" y="0"/>
                </a:moveTo>
                <a:lnTo>
                  <a:pt x="25400" y="0"/>
                </a:lnTo>
                <a:lnTo>
                  <a:pt x="25400" y="457200"/>
                </a:lnTo>
                <a:lnTo>
                  <a:pt x="25400" y="457200"/>
                </a:lnTo>
                <a:cubicBezTo>
                  <a:pt x="11372" y="457200"/>
                  <a:pt x="0" y="445828"/>
                  <a:pt x="0" y="4318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3400" y="2552700"/>
            <a:ext cx="5400675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create -d local \ -o type=cifs \ -o device=//server/share \ -o o=username=user,password=pass \ cifs_volume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238500"/>
            <a:ext cx="5619750" cy="1447800"/>
          </a:xfrm>
          <a:custGeom>
            <a:avLst/>
            <a:gdLst/>
            <a:ahLst/>
            <a:cxnLst/>
            <a:rect l="l" t="t" r="r" b="b"/>
            <a:pathLst>
              <a:path w="5619750" h="1447800">
                <a:moveTo>
                  <a:pt x="0" y="0"/>
                </a:moveTo>
                <a:lnTo>
                  <a:pt x="5619750" y="0"/>
                </a:lnTo>
                <a:lnTo>
                  <a:pt x="56197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00050" y="32385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3400" y="33528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Third-Party Plugins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3400" y="36957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SSHFS: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Remote filesystem mounting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3400" y="39243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REX-Ray: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AWS EBS, Azure Disk, GCE PD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3400" y="41529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GlusterFS: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Distributed filesystem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400" y="43815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Portworx: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Enterprise cloud-native storage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1181100"/>
            <a:ext cx="5619750" cy="1905000"/>
          </a:xfrm>
          <a:custGeom>
            <a:avLst/>
            <a:gdLst/>
            <a:ahLst/>
            <a:cxnLst/>
            <a:rect l="l" t="t" r="r" b="b"/>
            <a:pathLst>
              <a:path w="5619750" h="1905000">
                <a:moveTo>
                  <a:pt x="0" y="0"/>
                </a:moveTo>
                <a:lnTo>
                  <a:pt x="5619750" y="0"/>
                </a:lnTo>
                <a:lnTo>
                  <a:pt x="5619750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91250" y="1181100"/>
            <a:ext cx="38100" cy="1905000"/>
          </a:xfrm>
          <a:custGeom>
            <a:avLst/>
            <a:gdLst/>
            <a:ahLst/>
            <a:cxnLst/>
            <a:rect l="l" t="t" r="r" b="b"/>
            <a:pathLst>
              <a:path w="38100" h="1905000">
                <a:moveTo>
                  <a:pt x="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24600" y="12954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Plugin Management Commands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37300" y="1638300"/>
            <a:ext cx="5356225" cy="304800"/>
          </a:xfrm>
          <a:custGeom>
            <a:avLst/>
            <a:gdLst/>
            <a:ahLst/>
            <a:cxnLst/>
            <a:rect l="l" t="t" r="r" b="b"/>
            <a:pathLst>
              <a:path w="5356225" h="304800">
                <a:moveTo>
                  <a:pt x="25400" y="0"/>
                </a:moveTo>
                <a:lnTo>
                  <a:pt x="5318125" y="0"/>
                </a:lnTo>
                <a:cubicBezTo>
                  <a:pt x="5339153" y="0"/>
                  <a:pt x="5356225" y="17072"/>
                  <a:pt x="5356225" y="38100"/>
                </a:cubicBezTo>
                <a:lnTo>
                  <a:pt x="5356225" y="266700"/>
                </a:lnTo>
                <a:cubicBezTo>
                  <a:pt x="5356225" y="287728"/>
                  <a:pt x="5339153" y="304800"/>
                  <a:pt x="5318125" y="304800"/>
                </a:cubicBez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337300" y="16383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25400" h="304800">
                <a:moveTo>
                  <a:pt x="25400" y="0"/>
                </a:moveTo>
                <a:lnTo>
                  <a:pt x="25400" y="0"/>
                </a:lnTo>
                <a:lnTo>
                  <a:pt x="25400" y="304800"/>
                </a:ln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24600" y="1638300"/>
            <a:ext cx="5400675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plugin install vieux/sshfs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37300" y="1981200"/>
            <a:ext cx="5356225" cy="304800"/>
          </a:xfrm>
          <a:custGeom>
            <a:avLst/>
            <a:gdLst/>
            <a:ahLst/>
            <a:cxnLst/>
            <a:rect l="l" t="t" r="r" b="b"/>
            <a:pathLst>
              <a:path w="5356225" h="304800">
                <a:moveTo>
                  <a:pt x="25400" y="0"/>
                </a:moveTo>
                <a:lnTo>
                  <a:pt x="5318125" y="0"/>
                </a:lnTo>
                <a:cubicBezTo>
                  <a:pt x="5339153" y="0"/>
                  <a:pt x="5356225" y="17072"/>
                  <a:pt x="5356225" y="38100"/>
                </a:cubicBezTo>
                <a:lnTo>
                  <a:pt x="5356225" y="266700"/>
                </a:lnTo>
                <a:cubicBezTo>
                  <a:pt x="5356225" y="287728"/>
                  <a:pt x="5339153" y="304800"/>
                  <a:pt x="5318125" y="304800"/>
                </a:cubicBez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37300" y="19812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25400" h="304800">
                <a:moveTo>
                  <a:pt x="25400" y="0"/>
                </a:moveTo>
                <a:lnTo>
                  <a:pt x="25400" y="0"/>
                </a:lnTo>
                <a:lnTo>
                  <a:pt x="25400" y="304800"/>
                </a:ln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24600" y="1981200"/>
            <a:ext cx="5400675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plugin ls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7300" y="2324100"/>
            <a:ext cx="5356225" cy="304800"/>
          </a:xfrm>
          <a:custGeom>
            <a:avLst/>
            <a:gdLst/>
            <a:ahLst/>
            <a:cxnLst/>
            <a:rect l="l" t="t" r="r" b="b"/>
            <a:pathLst>
              <a:path w="5356225" h="304800">
                <a:moveTo>
                  <a:pt x="25400" y="0"/>
                </a:moveTo>
                <a:lnTo>
                  <a:pt x="5318125" y="0"/>
                </a:lnTo>
                <a:cubicBezTo>
                  <a:pt x="5339153" y="0"/>
                  <a:pt x="5356225" y="17072"/>
                  <a:pt x="5356225" y="38100"/>
                </a:cubicBezTo>
                <a:lnTo>
                  <a:pt x="5356225" y="266700"/>
                </a:lnTo>
                <a:cubicBezTo>
                  <a:pt x="5356225" y="287728"/>
                  <a:pt x="5339153" y="304800"/>
                  <a:pt x="5318125" y="304800"/>
                </a:cubicBez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337300" y="23241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25400" h="304800">
                <a:moveTo>
                  <a:pt x="25400" y="0"/>
                </a:moveTo>
                <a:lnTo>
                  <a:pt x="25400" y="0"/>
                </a:lnTo>
                <a:lnTo>
                  <a:pt x="25400" y="304800"/>
                </a:ln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24600" y="2324100"/>
            <a:ext cx="5400675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plugin disable vieux/sshfs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37300" y="2667000"/>
            <a:ext cx="5356225" cy="304800"/>
          </a:xfrm>
          <a:custGeom>
            <a:avLst/>
            <a:gdLst/>
            <a:ahLst/>
            <a:cxnLst/>
            <a:rect l="l" t="t" r="r" b="b"/>
            <a:pathLst>
              <a:path w="5356225" h="304800">
                <a:moveTo>
                  <a:pt x="25400" y="0"/>
                </a:moveTo>
                <a:lnTo>
                  <a:pt x="5318125" y="0"/>
                </a:lnTo>
                <a:cubicBezTo>
                  <a:pt x="5339153" y="0"/>
                  <a:pt x="5356225" y="17072"/>
                  <a:pt x="5356225" y="38100"/>
                </a:cubicBezTo>
                <a:lnTo>
                  <a:pt x="5356225" y="266700"/>
                </a:lnTo>
                <a:cubicBezTo>
                  <a:pt x="5356225" y="287728"/>
                  <a:pt x="5339153" y="304800"/>
                  <a:pt x="5318125" y="304800"/>
                </a:cubicBez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337300" y="26670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25400" h="304800">
                <a:moveTo>
                  <a:pt x="25400" y="0"/>
                </a:moveTo>
                <a:lnTo>
                  <a:pt x="25400" y="0"/>
                </a:lnTo>
                <a:lnTo>
                  <a:pt x="25400" y="304800"/>
                </a:lnTo>
                <a:lnTo>
                  <a:pt x="25400" y="304800"/>
                </a:lnTo>
                <a:cubicBezTo>
                  <a:pt x="11372" y="304800"/>
                  <a:pt x="0" y="293428"/>
                  <a:pt x="0" y="279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24600" y="2667000"/>
            <a:ext cx="5400675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plugin rm vieux/sshfs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1250" y="3200400"/>
            <a:ext cx="5619750" cy="2400300"/>
          </a:xfrm>
          <a:custGeom>
            <a:avLst/>
            <a:gdLst/>
            <a:ahLst/>
            <a:cxnLst/>
            <a:rect l="l" t="t" r="r" b="b"/>
            <a:pathLst>
              <a:path w="5619750" h="2400300">
                <a:moveTo>
                  <a:pt x="0" y="0"/>
                </a:moveTo>
                <a:lnTo>
                  <a:pt x="5619750" y="0"/>
                </a:lnTo>
                <a:lnTo>
                  <a:pt x="561975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191250" y="3200400"/>
            <a:ext cx="38100" cy="2400300"/>
          </a:xfrm>
          <a:custGeom>
            <a:avLst/>
            <a:gdLst/>
            <a:ahLst/>
            <a:cxnLst/>
            <a:rect l="l" t="t" r="r" b="b"/>
            <a:pathLst>
              <a:path w="38100" h="2400300">
                <a:moveTo>
                  <a:pt x="0" y="0"/>
                </a:moveTo>
                <a:lnTo>
                  <a:pt x="38100" y="0"/>
                </a:lnTo>
                <a:lnTo>
                  <a:pt x="381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24600" y="33147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SSHFS Plugin Example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7300" y="3657600"/>
            <a:ext cx="5356225" cy="1828800"/>
          </a:xfrm>
          <a:custGeom>
            <a:avLst/>
            <a:gdLst/>
            <a:ahLst/>
            <a:cxnLst/>
            <a:rect l="l" t="t" r="r" b="b"/>
            <a:pathLst>
              <a:path w="5356225" h="1828800">
                <a:moveTo>
                  <a:pt x="25400" y="0"/>
                </a:moveTo>
                <a:lnTo>
                  <a:pt x="5318131" y="0"/>
                </a:lnTo>
                <a:cubicBezTo>
                  <a:pt x="5339170" y="0"/>
                  <a:pt x="5356225" y="17055"/>
                  <a:pt x="5356225" y="38094"/>
                </a:cubicBezTo>
                <a:lnTo>
                  <a:pt x="5356225" y="1790706"/>
                </a:lnTo>
                <a:cubicBezTo>
                  <a:pt x="5356225" y="1811745"/>
                  <a:pt x="5339170" y="1828800"/>
                  <a:pt x="5318131" y="1828800"/>
                </a:cubicBezTo>
                <a:lnTo>
                  <a:pt x="25400" y="1828800"/>
                </a:lnTo>
                <a:cubicBezTo>
                  <a:pt x="11372" y="1828800"/>
                  <a:pt x="0" y="1817428"/>
                  <a:pt x="0" y="1803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337300" y="3657600"/>
            <a:ext cx="25400" cy="1828800"/>
          </a:xfrm>
          <a:custGeom>
            <a:avLst/>
            <a:gdLst/>
            <a:ahLst/>
            <a:cxnLst/>
            <a:rect l="l" t="t" r="r" b="b"/>
            <a:pathLst>
              <a:path w="25400" h="1828800">
                <a:moveTo>
                  <a:pt x="25400" y="0"/>
                </a:moveTo>
                <a:lnTo>
                  <a:pt x="25400" y="0"/>
                </a:lnTo>
                <a:lnTo>
                  <a:pt x="25400" y="1828800"/>
                </a:lnTo>
                <a:lnTo>
                  <a:pt x="25400" y="1828800"/>
                </a:lnTo>
                <a:cubicBezTo>
                  <a:pt x="11372" y="1828800"/>
                  <a:pt x="0" y="1817428"/>
                  <a:pt x="0" y="1803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426200" y="3733800"/>
            <a:ext cx="5248275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Install plugin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 plugin install vieux/sshfs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Create SSHFS volume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 volume create -d vieux/sshfs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-o sshcmd=user@host:/remote/path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-o password=secret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ssh_volume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Use in container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 run -v ssh_volume:/data nginx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00050" y="5676900"/>
            <a:ext cx="11410950" cy="342900"/>
          </a:xfrm>
          <a:custGeom>
            <a:avLst/>
            <a:gdLst/>
            <a:ahLst/>
            <a:cxnLst/>
            <a:rect l="l" t="t" r="r" b="b"/>
            <a:pathLst>
              <a:path w="11410950" h="342900">
                <a:moveTo>
                  <a:pt x="0" y="0"/>
                </a:moveTo>
                <a:lnTo>
                  <a:pt x="11410950" y="0"/>
                </a:lnTo>
                <a:lnTo>
                  <a:pt x="114109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00050" y="5676900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14350" y="577850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23900" y="5753100"/>
            <a:ext cx="1107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Note:</a:t>
            </a: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Volume plugins run with elevated privileges. Only install plugins from trusted sources and verify their authenticity before installation.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a9ac84d0255fa8c9a102b56c227a0c8b9e983fc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21444" r="214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2937">
                  <a:alpha val="98000"/>
                </a:srgbClr>
              </a:gs>
              <a:gs pos="50000">
                <a:srgbClr val="1F293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19526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7523" y="2105025"/>
            <a:ext cx="43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526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81000" y="294322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Backup, Restore,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 Migration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600575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protection strategies for containerized applications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8617" y="368617"/>
            <a:ext cx="36862" cy="294893"/>
          </a:xfrm>
          <a:custGeom>
            <a:avLst/>
            <a:gdLst/>
            <a:ahLst/>
            <a:cxnLst/>
            <a:rect l="l" t="t" r="r" b="b"/>
            <a:pathLst>
              <a:path w="36862" h="294893">
                <a:moveTo>
                  <a:pt x="0" y="0"/>
                </a:moveTo>
                <a:lnTo>
                  <a:pt x="36862" y="0"/>
                </a:lnTo>
                <a:lnTo>
                  <a:pt x="36862" y="294893"/>
                </a:lnTo>
                <a:lnTo>
                  <a:pt x="0" y="29489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6063" y="423909"/>
            <a:ext cx="21195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kern="0" spc="5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8617" y="737234"/>
            <a:ext cx="11592998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Backup and Restore Procedures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7048" y="1142712"/>
            <a:ext cx="5630621" cy="2322286"/>
          </a:xfrm>
          <a:custGeom>
            <a:avLst/>
            <a:gdLst/>
            <a:ahLst/>
            <a:cxnLst/>
            <a:rect l="l" t="t" r="r" b="b"/>
            <a:pathLst>
              <a:path w="5630621" h="2322286">
                <a:moveTo>
                  <a:pt x="0" y="0"/>
                </a:moveTo>
                <a:lnTo>
                  <a:pt x="5630621" y="0"/>
                </a:lnTo>
                <a:lnTo>
                  <a:pt x="5630621" y="2322286"/>
                </a:lnTo>
                <a:lnTo>
                  <a:pt x="0" y="232228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7048" y="1142712"/>
            <a:ext cx="36862" cy="2322286"/>
          </a:xfrm>
          <a:custGeom>
            <a:avLst/>
            <a:gdLst/>
            <a:ahLst/>
            <a:cxnLst/>
            <a:rect l="l" t="t" r="r" b="b"/>
            <a:pathLst>
              <a:path w="36862" h="2322286">
                <a:moveTo>
                  <a:pt x="0" y="0"/>
                </a:moveTo>
                <a:lnTo>
                  <a:pt x="36862" y="0"/>
                </a:lnTo>
                <a:lnTo>
                  <a:pt x="36862" y="2322286"/>
                </a:lnTo>
                <a:lnTo>
                  <a:pt x="0" y="232228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6063" y="1253297"/>
            <a:ext cx="547395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Backup Workflow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6063" y="1585052"/>
            <a:ext cx="545552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r>
              <a:rPr lang="en-US" sz="101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Stop the container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8351" y="1806222"/>
            <a:ext cx="5384877" cy="294893"/>
          </a:xfrm>
          <a:custGeom>
            <a:avLst/>
            <a:gdLst/>
            <a:ahLst/>
            <a:cxnLst/>
            <a:rect l="l" t="t" r="r" b="b"/>
            <a:pathLst>
              <a:path w="5384877" h="294893">
                <a:moveTo>
                  <a:pt x="24574" y="0"/>
                </a:moveTo>
                <a:lnTo>
                  <a:pt x="5348015" y="0"/>
                </a:lnTo>
                <a:cubicBezTo>
                  <a:pt x="5368373" y="0"/>
                  <a:pt x="5384877" y="16504"/>
                  <a:pt x="5384877" y="36862"/>
                </a:cubicBezTo>
                <a:lnTo>
                  <a:pt x="5384877" y="258032"/>
                </a:lnTo>
                <a:cubicBezTo>
                  <a:pt x="5384877" y="278390"/>
                  <a:pt x="5368373" y="294893"/>
                  <a:pt x="5348015" y="294893"/>
                </a:cubicBezTo>
                <a:lnTo>
                  <a:pt x="24574" y="294893"/>
                </a:lnTo>
                <a:cubicBezTo>
                  <a:pt x="11002" y="294893"/>
                  <a:pt x="0" y="283891"/>
                  <a:pt x="0" y="270319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28351" y="1806222"/>
            <a:ext cx="24574" cy="294893"/>
          </a:xfrm>
          <a:custGeom>
            <a:avLst/>
            <a:gdLst/>
            <a:ahLst/>
            <a:cxnLst/>
            <a:rect l="l" t="t" r="r" b="b"/>
            <a:pathLst>
              <a:path w="24574" h="294893">
                <a:moveTo>
                  <a:pt x="24574" y="0"/>
                </a:moveTo>
                <a:lnTo>
                  <a:pt x="24574" y="0"/>
                </a:lnTo>
                <a:lnTo>
                  <a:pt x="24574" y="294893"/>
                </a:lnTo>
                <a:lnTo>
                  <a:pt x="24574" y="294893"/>
                </a:lnTo>
                <a:cubicBezTo>
                  <a:pt x="11002" y="294893"/>
                  <a:pt x="0" y="283891"/>
                  <a:pt x="0" y="270319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6063" y="1806222"/>
            <a:ext cx="5427882" cy="294893"/>
          </a:xfrm>
          <a:prstGeom prst="rect">
            <a:avLst/>
          </a:prstGeom>
          <a:noFill/>
          <a:ln/>
        </p:spPr>
        <p:txBody>
          <a:bodyPr wrap="square" lIns="73723" tIns="73723" rIns="73723" bIns="73723" rtlCol="0" anchor="ctr"/>
          <a:lstStyle/>
          <a:p>
            <a:pPr>
              <a:lnSpc>
                <a:spcPct val="11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stop my_container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6063" y="2137977"/>
            <a:ext cx="545552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r>
              <a:rPr lang="en-US" sz="101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backup container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8351" y="2359147"/>
            <a:ext cx="5384877" cy="442340"/>
          </a:xfrm>
          <a:custGeom>
            <a:avLst/>
            <a:gdLst/>
            <a:ahLst/>
            <a:cxnLst/>
            <a:rect l="l" t="t" r="r" b="b"/>
            <a:pathLst>
              <a:path w="5384877" h="442340">
                <a:moveTo>
                  <a:pt x="24574" y="0"/>
                </a:moveTo>
                <a:lnTo>
                  <a:pt x="5348017" y="0"/>
                </a:lnTo>
                <a:cubicBezTo>
                  <a:pt x="5368374" y="0"/>
                  <a:pt x="5384877" y="16503"/>
                  <a:pt x="5384877" y="36860"/>
                </a:cubicBezTo>
                <a:lnTo>
                  <a:pt x="5384877" y="405480"/>
                </a:lnTo>
                <a:cubicBezTo>
                  <a:pt x="5384877" y="425837"/>
                  <a:pt x="5368374" y="442340"/>
                  <a:pt x="5348017" y="442340"/>
                </a:cubicBezTo>
                <a:lnTo>
                  <a:pt x="24574" y="442340"/>
                </a:lnTo>
                <a:cubicBezTo>
                  <a:pt x="11002" y="442340"/>
                  <a:pt x="0" y="431338"/>
                  <a:pt x="0" y="417766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28351" y="2359147"/>
            <a:ext cx="24574" cy="442340"/>
          </a:xfrm>
          <a:custGeom>
            <a:avLst/>
            <a:gdLst/>
            <a:ahLst/>
            <a:cxnLst/>
            <a:rect l="l" t="t" r="r" b="b"/>
            <a:pathLst>
              <a:path w="24574" h="442340">
                <a:moveTo>
                  <a:pt x="24574" y="0"/>
                </a:moveTo>
                <a:lnTo>
                  <a:pt x="24574" y="0"/>
                </a:lnTo>
                <a:lnTo>
                  <a:pt x="24574" y="442340"/>
                </a:lnTo>
                <a:lnTo>
                  <a:pt x="24574" y="442340"/>
                </a:lnTo>
                <a:cubicBezTo>
                  <a:pt x="11002" y="442340"/>
                  <a:pt x="0" y="431338"/>
                  <a:pt x="0" y="417766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6063" y="2359147"/>
            <a:ext cx="5427882" cy="442340"/>
          </a:xfrm>
          <a:prstGeom prst="rect">
            <a:avLst/>
          </a:prstGeom>
          <a:noFill/>
          <a:ln/>
        </p:spPr>
        <p:txBody>
          <a:bodyPr wrap="square" lIns="73723" tIns="73723" rIns="73723" bIns="73723" rtlCol="0" anchor="ctr"/>
          <a:lstStyle/>
          <a:p>
            <a:pPr>
              <a:lnSpc>
                <a:spcPct val="11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--rm \ --volumes-from my_container \ -v $(pwd):/backup \ alpine tar czf /backup/backup.tar.gz /data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6063" y="2838349"/>
            <a:ext cx="545552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</a:t>
            </a:r>
            <a:r>
              <a:rPr lang="en-US" sz="101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Restart container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8351" y="3059519"/>
            <a:ext cx="5384877" cy="294893"/>
          </a:xfrm>
          <a:custGeom>
            <a:avLst/>
            <a:gdLst/>
            <a:ahLst/>
            <a:cxnLst/>
            <a:rect l="l" t="t" r="r" b="b"/>
            <a:pathLst>
              <a:path w="5384877" h="294893">
                <a:moveTo>
                  <a:pt x="24574" y="0"/>
                </a:moveTo>
                <a:lnTo>
                  <a:pt x="5348015" y="0"/>
                </a:lnTo>
                <a:cubicBezTo>
                  <a:pt x="5368373" y="0"/>
                  <a:pt x="5384877" y="16504"/>
                  <a:pt x="5384877" y="36862"/>
                </a:cubicBezTo>
                <a:lnTo>
                  <a:pt x="5384877" y="258032"/>
                </a:lnTo>
                <a:cubicBezTo>
                  <a:pt x="5384877" y="278390"/>
                  <a:pt x="5368373" y="294893"/>
                  <a:pt x="5348015" y="294893"/>
                </a:cubicBezTo>
                <a:lnTo>
                  <a:pt x="24574" y="294893"/>
                </a:lnTo>
                <a:cubicBezTo>
                  <a:pt x="11002" y="294893"/>
                  <a:pt x="0" y="283891"/>
                  <a:pt x="0" y="270319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28351" y="3059519"/>
            <a:ext cx="24574" cy="294893"/>
          </a:xfrm>
          <a:custGeom>
            <a:avLst/>
            <a:gdLst/>
            <a:ahLst/>
            <a:cxnLst/>
            <a:rect l="l" t="t" r="r" b="b"/>
            <a:pathLst>
              <a:path w="24574" h="294893">
                <a:moveTo>
                  <a:pt x="24574" y="0"/>
                </a:moveTo>
                <a:lnTo>
                  <a:pt x="24574" y="0"/>
                </a:lnTo>
                <a:lnTo>
                  <a:pt x="24574" y="294893"/>
                </a:lnTo>
                <a:lnTo>
                  <a:pt x="24574" y="294893"/>
                </a:lnTo>
                <a:cubicBezTo>
                  <a:pt x="11002" y="294893"/>
                  <a:pt x="0" y="283891"/>
                  <a:pt x="0" y="270319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6063" y="3059519"/>
            <a:ext cx="5427882" cy="294893"/>
          </a:xfrm>
          <a:prstGeom prst="rect">
            <a:avLst/>
          </a:prstGeom>
          <a:noFill/>
          <a:ln/>
        </p:spPr>
        <p:txBody>
          <a:bodyPr wrap="square" lIns="73723" tIns="73723" rIns="73723" bIns="73723" rtlCol="0" anchor="ctr"/>
          <a:lstStyle/>
          <a:p>
            <a:pPr>
              <a:lnSpc>
                <a:spcPct val="11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start my_container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7048" y="3575583"/>
            <a:ext cx="5630621" cy="2322286"/>
          </a:xfrm>
          <a:custGeom>
            <a:avLst/>
            <a:gdLst/>
            <a:ahLst/>
            <a:cxnLst/>
            <a:rect l="l" t="t" r="r" b="b"/>
            <a:pathLst>
              <a:path w="5630621" h="2322286">
                <a:moveTo>
                  <a:pt x="0" y="0"/>
                </a:moveTo>
                <a:lnTo>
                  <a:pt x="5630621" y="0"/>
                </a:lnTo>
                <a:lnTo>
                  <a:pt x="5630621" y="2322286"/>
                </a:lnTo>
                <a:lnTo>
                  <a:pt x="0" y="232228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7048" y="3575583"/>
            <a:ext cx="36862" cy="2322286"/>
          </a:xfrm>
          <a:custGeom>
            <a:avLst/>
            <a:gdLst/>
            <a:ahLst/>
            <a:cxnLst/>
            <a:rect l="l" t="t" r="r" b="b"/>
            <a:pathLst>
              <a:path w="36862" h="2322286">
                <a:moveTo>
                  <a:pt x="0" y="0"/>
                </a:moveTo>
                <a:lnTo>
                  <a:pt x="36862" y="0"/>
                </a:lnTo>
                <a:lnTo>
                  <a:pt x="36862" y="2322286"/>
                </a:lnTo>
                <a:lnTo>
                  <a:pt x="0" y="2322286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6063" y="3686168"/>
            <a:ext cx="547395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Restore Workflow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063" y="4017923"/>
            <a:ext cx="545552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r>
              <a:rPr lang="en-US" sz="101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new volume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8351" y="4239093"/>
            <a:ext cx="5384877" cy="294893"/>
          </a:xfrm>
          <a:custGeom>
            <a:avLst/>
            <a:gdLst/>
            <a:ahLst/>
            <a:cxnLst/>
            <a:rect l="l" t="t" r="r" b="b"/>
            <a:pathLst>
              <a:path w="5384877" h="294893">
                <a:moveTo>
                  <a:pt x="24574" y="0"/>
                </a:moveTo>
                <a:lnTo>
                  <a:pt x="5348015" y="0"/>
                </a:lnTo>
                <a:cubicBezTo>
                  <a:pt x="5368373" y="0"/>
                  <a:pt x="5384877" y="16504"/>
                  <a:pt x="5384877" y="36862"/>
                </a:cubicBezTo>
                <a:lnTo>
                  <a:pt x="5384877" y="258032"/>
                </a:lnTo>
                <a:cubicBezTo>
                  <a:pt x="5384877" y="278390"/>
                  <a:pt x="5368373" y="294893"/>
                  <a:pt x="5348015" y="294893"/>
                </a:cubicBezTo>
                <a:lnTo>
                  <a:pt x="24574" y="294893"/>
                </a:lnTo>
                <a:cubicBezTo>
                  <a:pt x="11002" y="294893"/>
                  <a:pt x="0" y="283891"/>
                  <a:pt x="0" y="270319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28351" y="4239093"/>
            <a:ext cx="24574" cy="294893"/>
          </a:xfrm>
          <a:custGeom>
            <a:avLst/>
            <a:gdLst/>
            <a:ahLst/>
            <a:cxnLst/>
            <a:rect l="l" t="t" r="r" b="b"/>
            <a:pathLst>
              <a:path w="24574" h="294893">
                <a:moveTo>
                  <a:pt x="24574" y="0"/>
                </a:moveTo>
                <a:lnTo>
                  <a:pt x="24574" y="0"/>
                </a:lnTo>
                <a:lnTo>
                  <a:pt x="24574" y="294893"/>
                </a:lnTo>
                <a:lnTo>
                  <a:pt x="24574" y="294893"/>
                </a:lnTo>
                <a:cubicBezTo>
                  <a:pt x="11002" y="294893"/>
                  <a:pt x="0" y="283891"/>
                  <a:pt x="0" y="270319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6063" y="4239093"/>
            <a:ext cx="5427882" cy="294893"/>
          </a:xfrm>
          <a:prstGeom prst="rect">
            <a:avLst/>
          </a:prstGeom>
          <a:noFill/>
          <a:ln/>
        </p:spPr>
        <p:txBody>
          <a:bodyPr wrap="square" lIns="73723" tIns="73723" rIns="73723" bIns="73723" rtlCol="0" anchor="ctr"/>
          <a:lstStyle/>
          <a:p>
            <a:pPr>
              <a:lnSpc>
                <a:spcPct val="11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create new_volume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063" y="4570848"/>
            <a:ext cx="545552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r>
              <a:rPr lang="en-US" sz="101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Extract backup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8351" y="4792018"/>
            <a:ext cx="5384877" cy="442340"/>
          </a:xfrm>
          <a:custGeom>
            <a:avLst/>
            <a:gdLst/>
            <a:ahLst/>
            <a:cxnLst/>
            <a:rect l="l" t="t" r="r" b="b"/>
            <a:pathLst>
              <a:path w="5384877" h="442340">
                <a:moveTo>
                  <a:pt x="24574" y="0"/>
                </a:moveTo>
                <a:lnTo>
                  <a:pt x="5348017" y="0"/>
                </a:lnTo>
                <a:cubicBezTo>
                  <a:pt x="5368374" y="0"/>
                  <a:pt x="5384877" y="16503"/>
                  <a:pt x="5384877" y="36860"/>
                </a:cubicBezTo>
                <a:lnTo>
                  <a:pt x="5384877" y="405480"/>
                </a:lnTo>
                <a:cubicBezTo>
                  <a:pt x="5384877" y="425837"/>
                  <a:pt x="5368374" y="442340"/>
                  <a:pt x="5348017" y="442340"/>
                </a:cubicBezTo>
                <a:lnTo>
                  <a:pt x="24574" y="442340"/>
                </a:lnTo>
                <a:cubicBezTo>
                  <a:pt x="11002" y="442340"/>
                  <a:pt x="0" y="431338"/>
                  <a:pt x="0" y="417766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28351" y="4792018"/>
            <a:ext cx="24574" cy="442340"/>
          </a:xfrm>
          <a:custGeom>
            <a:avLst/>
            <a:gdLst/>
            <a:ahLst/>
            <a:cxnLst/>
            <a:rect l="l" t="t" r="r" b="b"/>
            <a:pathLst>
              <a:path w="24574" h="442340">
                <a:moveTo>
                  <a:pt x="24574" y="0"/>
                </a:moveTo>
                <a:lnTo>
                  <a:pt x="24574" y="0"/>
                </a:lnTo>
                <a:lnTo>
                  <a:pt x="24574" y="442340"/>
                </a:lnTo>
                <a:lnTo>
                  <a:pt x="24574" y="442340"/>
                </a:lnTo>
                <a:cubicBezTo>
                  <a:pt x="11002" y="442340"/>
                  <a:pt x="0" y="431338"/>
                  <a:pt x="0" y="417766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16063" y="4792018"/>
            <a:ext cx="5427882" cy="442340"/>
          </a:xfrm>
          <a:prstGeom prst="rect">
            <a:avLst/>
          </a:prstGeom>
          <a:noFill/>
          <a:ln/>
        </p:spPr>
        <p:txBody>
          <a:bodyPr wrap="square" lIns="73723" tIns="73723" rIns="73723" bIns="73723" rtlCol="0" anchor="ctr"/>
          <a:lstStyle/>
          <a:p>
            <a:pPr>
              <a:lnSpc>
                <a:spcPct val="11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--rm \ -v new_volume:/data \ -v $(pwd):/backup \ alpine tar xzf /backup/backup.tar.gz -C /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6063" y="5271220"/>
            <a:ext cx="545552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</a:t>
            </a:r>
            <a:r>
              <a:rPr lang="en-US" sz="101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Mount to container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8351" y="5492390"/>
            <a:ext cx="5384877" cy="294893"/>
          </a:xfrm>
          <a:custGeom>
            <a:avLst/>
            <a:gdLst/>
            <a:ahLst/>
            <a:cxnLst/>
            <a:rect l="l" t="t" r="r" b="b"/>
            <a:pathLst>
              <a:path w="5384877" h="294893">
                <a:moveTo>
                  <a:pt x="24574" y="0"/>
                </a:moveTo>
                <a:lnTo>
                  <a:pt x="5348015" y="0"/>
                </a:lnTo>
                <a:cubicBezTo>
                  <a:pt x="5368373" y="0"/>
                  <a:pt x="5384877" y="16504"/>
                  <a:pt x="5384877" y="36862"/>
                </a:cubicBezTo>
                <a:lnTo>
                  <a:pt x="5384877" y="258032"/>
                </a:lnTo>
                <a:cubicBezTo>
                  <a:pt x="5384877" y="278390"/>
                  <a:pt x="5368373" y="294893"/>
                  <a:pt x="5348015" y="294893"/>
                </a:cubicBezTo>
                <a:lnTo>
                  <a:pt x="24574" y="294893"/>
                </a:lnTo>
                <a:cubicBezTo>
                  <a:pt x="11002" y="294893"/>
                  <a:pt x="0" y="283891"/>
                  <a:pt x="0" y="270319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28351" y="5492390"/>
            <a:ext cx="24574" cy="294893"/>
          </a:xfrm>
          <a:custGeom>
            <a:avLst/>
            <a:gdLst/>
            <a:ahLst/>
            <a:cxnLst/>
            <a:rect l="l" t="t" r="r" b="b"/>
            <a:pathLst>
              <a:path w="24574" h="294893">
                <a:moveTo>
                  <a:pt x="24574" y="0"/>
                </a:moveTo>
                <a:lnTo>
                  <a:pt x="24574" y="0"/>
                </a:lnTo>
                <a:lnTo>
                  <a:pt x="24574" y="294893"/>
                </a:lnTo>
                <a:lnTo>
                  <a:pt x="24574" y="294893"/>
                </a:lnTo>
                <a:cubicBezTo>
                  <a:pt x="11002" y="294893"/>
                  <a:pt x="0" y="283891"/>
                  <a:pt x="0" y="270319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16063" y="5492390"/>
            <a:ext cx="5427882" cy="294893"/>
          </a:xfrm>
          <a:prstGeom prst="rect">
            <a:avLst/>
          </a:prstGeom>
          <a:noFill/>
          <a:ln/>
        </p:spPr>
        <p:txBody>
          <a:bodyPr wrap="square" lIns="73723" tIns="73723" rIns="73723" bIns="73723" rtlCol="0" anchor="ctr"/>
          <a:lstStyle/>
          <a:p>
            <a:pPr>
              <a:lnSpc>
                <a:spcPct val="11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-v new_volume:/data nginx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86619" y="1142712"/>
            <a:ext cx="5630621" cy="2211701"/>
          </a:xfrm>
          <a:custGeom>
            <a:avLst/>
            <a:gdLst/>
            <a:ahLst/>
            <a:cxnLst/>
            <a:rect l="l" t="t" r="r" b="b"/>
            <a:pathLst>
              <a:path w="5630621" h="2211701">
                <a:moveTo>
                  <a:pt x="0" y="0"/>
                </a:moveTo>
                <a:lnTo>
                  <a:pt x="5630621" y="0"/>
                </a:lnTo>
                <a:lnTo>
                  <a:pt x="5630621" y="2211701"/>
                </a:lnTo>
                <a:lnTo>
                  <a:pt x="0" y="221170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86619" y="1142712"/>
            <a:ext cx="36862" cy="2211701"/>
          </a:xfrm>
          <a:custGeom>
            <a:avLst/>
            <a:gdLst/>
            <a:ahLst/>
            <a:cxnLst/>
            <a:rect l="l" t="t" r="r" b="b"/>
            <a:pathLst>
              <a:path w="36862" h="2211701">
                <a:moveTo>
                  <a:pt x="0" y="0"/>
                </a:moveTo>
                <a:lnTo>
                  <a:pt x="36862" y="0"/>
                </a:lnTo>
                <a:lnTo>
                  <a:pt x="36862" y="2211701"/>
                </a:lnTo>
                <a:lnTo>
                  <a:pt x="0" y="2211701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15635" y="1253297"/>
            <a:ext cx="547395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Complete Backup Script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7922" y="1585052"/>
            <a:ext cx="5237430" cy="1658776"/>
          </a:xfrm>
          <a:custGeom>
            <a:avLst/>
            <a:gdLst/>
            <a:ahLst/>
            <a:cxnLst/>
            <a:rect l="l" t="t" r="r" b="b"/>
            <a:pathLst>
              <a:path w="5237430" h="1658776">
                <a:moveTo>
                  <a:pt x="24574" y="0"/>
                </a:moveTo>
                <a:lnTo>
                  <a:pt x="5200572" y="0"/>
                </a:lnTo>
                <a:cubicBezTo>
                  <a:pt x="5220928" y="0"/>
                  <a:pt x="5237430" y="16502"/>
                  <a:pt x="5237430" y="36858"/>
                </a:cubicBezTo>
                <a:lnTo>
                  <a:pt x="5237430" y="1621918"/>
                </a:lnTo>
                <a:cubicBezTo>
                  <a:pt x="5237430" y="1642274"/>
                  <a:pt x="5220928" y="1658776"/>
                  <a:pt x="5200572" y="1658776"/>
                </a:cubicBezTo>
                <a:lnTo>
                  <a:pt x="24574" y="1658776"/>
                </a:lnTo>
                <a:cubicBezTo>
                  <a:pt x="11002" y="1658776"/>
                  <a:pt x="0" y="1647773"/>
                  <a:pt x="0" y="1634201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327922" y="1585052"/>
            <a:ext cx="24574" cy="1658776"/>
          </a:xfrm>
          <a:custGeom>
            <a:avLst/>
            <a:gdLst/>
            <a:ahLst/>
            <a:cxnLst/>
            <a:rect l="l" t="t" r="r" b="b"/>
            <a:pathLst>
              <a:path w="24574" h="1658776">
                <a:moveTo>
                  <a:pt x="24574" y="0"/>
                </a:moveTo>
                <a:lnTo>
                  <a:pt x="24574" y="0"/>
                </a:lnTo>
                <a:lnTo>
                  <a:pt x="24574" y="1658776"/>
                </a:lnTo>
                <a:lnTo>
                  <a:pt x="24574" y="1658776"/>
                </a:lnTo>
                <a:cubicBezTo>
                  <a:pt x="11002" y="1658776"/>
                  <a:pt x="0" y="1647773"/>
                  <a:pt x="0" y="1634201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13932" y="1658776"/>
            <a:ext cx="5132989" cy="339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#!/bin/bash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 -e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CONTAINER_NAME="${1:-myapp}"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BACKUP_DIR="${2:-./backups}"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TIMESTAMP=$(date +%Y%m%d_%H%M%S)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BACKUP_FILE="${BACKUP_DIR}/${CONTAINER_NAME}_${TIMESTAMP}.tar.gz"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mkdir -p "$BACKUP_DIR"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echo "Stopping container: $CONTAINER_NAME"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 stop "$CONTAINER_NAME" &gt;/dev/null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echo "Creating backup: $BACKUP_FILE"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 run --rm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--volumes-from "$CONTAINER_NAME"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-v "$BACKUP_DIR":/backup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alpine tar czf "/backup/$(basename "$BACKUP_FILE")" /data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echo "Starting container: $CONTAINER_NAME"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 start "$CONTAINER_NAME" &gt;/dev/null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echo "Backup completed: $BACKUP_FILE"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86619" y="3464998"/>
            <a:ext cx="5630621" cy="1585052"/>
          </a:xfrm>
          <a:custGeom>
            <a:avLst/>
            <a:gdLst/>
            <a:ahLst/>
            <a:cxnLst/>
            <a:rect l="l" t="t" r="r" b="b"/>
            <a:pathLst>
              <a:path w="5630621" h="1585052">
                <a:moveTo>
                  <a:pt x="0" y="0"/>
                </a:moveTo>
                <a:lnTo>
                  <a:pt x="5630621" y="0"/>
                </a:lnTo>
                <a:lnTo>
                  <a:pt x="5630621" y="1585052"/>
                </a:lnTo>
                <a:lnTo>
                  <a:pt x="0" y="158505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186619" y="3464998"/>
            <a:ext cx="36862" cy="1585052"/>
          </a:xfrm>
          <a:custGeom>
            <a:avLst/>
            <a:gdLst/>
            <a:ahLst/>
            <a:cxnLst/>
            <a:rect l="l" t="t" r="r" b="b"/>
            <a:pathLst>
              <a:path w="36862" h="1585052">
                <a:moveTo>
                  <a:pt x="0" y="0"/>
                </a:moveTo>
                <a:lnTo>
                  <a:pt x="36862" y="0"/>
                </a:lnTo>
                <a:lnTo>
                  <a:pt x="36862" y="1585052"/>
                </a:lnTo>
                <a:lnTo>
                  <a:pt x="0" y="158505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315635" y="3575583"/>
            <a:ext cx="547395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Migration Between Hosts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27922" y="3907338"/>
            <a:ext cx="5384877" cy="1032127"/>
          </a:xfrm>
          <a:custGeom>
            <a:avLst/>
            <a:gdLst/>
            <a:ahLst/>
            <a:cxnLst/>
            <a:rect l="l" t="t" r="r" b="b"/>
            <a:pathLst>
              <a:path w="5384877" h="1032127">
                <a:moveTo>
                  <a:pt x="24574" y="0"/>
                </a:moveTo>
                <a:lnTo>
                  <a:pt x="5348020" y="0"/>
                </a:lnTo>
                <a:cubicBezTo>
                  <a:pt x="5368375" y="0"/>
                  <a:pt x="5384877" y="16502"/>
                  <a:pt x="5384877" y="36857"/>
                </a:cubicBezTo>
                <a:lnTo>
                  <a:pt x="5384877" y="995270"/>
                </a:lnTo>
                <a:cubicBezTo>
                  <a:pt x="5384877" y="1015625"/>
                  <a:pt x="5368375" y="1032127"/>
                  <a:pt x="5348020" y="1032127"/>
                </a:cubicBezTo>
                <a:lnTo>
                  <a:pt x="24574" y="1032127"/>
                </a:lnTo>
                <a:cubicBezTo>
                  <a:pt x="11002" y="1032127"/>
                  <a:pt x="0" y="1021125"/>
                  <a:pt x="0" y="1007553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327922" y="3907338"/>
            <a:ext cx="24574" cy="1032127"/>
          </a:xfrm>
          <a:custGeom>
            <a:avLst/>
            <a:gdLst/>
            <a:ahLst/>
            <a:cxnLst/>
            <a:rect l="l" t="t" r="r" b="b"/>
            <a:pathLst>
              <a:path w="24574" h="1032127">
                <a:moveTo>
                  <a:pt x="24574" y="0"/>
                </a:moveTo>
                <a:lnTo>
                  <a:pt x="24574" y="0"/>
                </a:lnTo>
                <a:lnTo>
                  <a:pt x="24574" y="1032127"/>
                </a:lnTo>
                <a:lnTo>
                  <a:pt x="24574" y="1032127"/>
                </a:lnTo>
                <a:cubicBezTo>
                  <a:pt x="11002" y="1032127"/>
                  <a:pt x="0" y="1021125"/>
                  <a:pt x="0" y="1007553"/>
                </a:cubicBezTo>
                <a:lnTo>
                  <a:pt x="0" y="24574"/>
                </a:lnTo>
                <a:cubicBezTo>
                  <a:pt x="0" y="11011"/>
                  <a:pt x="11011" y="0"/>
                  <a:pt x="24574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13932" y="3981061"/>
            <a:ext cx="5280435" cy="88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On source host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 volume create myvolume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 run --rm -v myvolume:/data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alpine tar czf - /data |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ssh user@dest-host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'docker run --rm -i -v myvolume:/data alpine tar xzf - -C /'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7048" y="5971592"/>
            <a:ext cx="11436336" cy="331755"/>
          </a:xfrm>
          <a:custGeom>
            <a:avLst/>
            <a:gdLst/>
            <a:ahLst/>
            <a:cxnLst/>
            <a:rect l="l" t="t" r="r" b="b"/>
            <a:pathLst>
              <a:path w="11436336" h="331755">
                <a:moveTo>
                  <a:pt x="0" y="0"/>
                </a:moveTo>
                <a:lnTo>
                  <a:pt x="11436336" y="0"/>
                </a:lnTo>
                <a:lnTo>
                  <a:pt x="11436336" y="331755"/>
                </a:lnTo>
                <a:lnTo>
                  <a:pt x="0" y="331755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87048" y="5971592"/>
            <a:ext cx="36862" cy="331755"/>
          </a:xfrm>
          <a:custGeom>
            <a:avLst/>
            <a:gdLst/>
            <a:ahLst/>
            <a:cxnLst/>
            <a:rect l="l" t="t" r="r" b="b"/>
            <a:pathLst>
              <a:path w="36862" h="331755">
                <a:moveTo>
                  <a:pt x="0" y="0"/>
                </a:moveTo>
                <a:lnTo>
                  <a:pt x="36862" y="0"/>
                </a:lnTo>
                <a:lnTo>
                  <a:pt x="36862" y="331755"/>
                </a:lnTo>
                <a:lnTo>
                  <a:pt x="0" y="33175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13760" y="6069893"/>
            <a:ext cx="96762" cy="129016"/>
          </a:xfrm>
          <a:custGeom>
            <a:avLst/>
            <a:gdLst/>
            <a:ahLst/>
            <a:cxnLst/>
            <a:rect l="l" t="t" r="r" b="b"/>
            <a:pathLst>
              <a:path w="96762" h="129016">
                <a:moveTo>
                  <a:pt x="73806" y="96762"/>
                </a:moveTo>
                <a:cubicBezTo>
                  <a:pt x="75646" y="91143"/>
                  <a:pt x="79325" y="86053"/>
                  <a:pt x="83482" y="81668"/>
                </a:cubicBezTo>
                <a:cubicBezTo>
                  <a:pt x="91722" y="73000"/>
                  <a:pt x="96762" y="61283"/>
                  <a:pt x="96762" y="48381"/>
                </a:cubicBezTo>
                <a:cubicBezTo>
                  <a:pt x="96762" y="21671"/>
                  <a:pt x="75091" y="0"/>
                  <a:pt x="48381" y="0"/>
                </a:cubicBezTo>
                <a:cubicBezTo>
                  <a:pt x="21671" y="0"/>
                  <a:pt x="0" y="21671"/>
                  <a:pt x="0" y="48381"/>
                </a:cubicBezTo>
                <a:cubicBezTo>
                  <a:pt x="0" y="61283"/>
                  <a:pt x="5040" y="73000"/>
                  <a:pt x="13280" y="81668"/>
                </a:cubicBezTo>
                <a:cubicBezTo>
                  <a:pt x="17437" y="86053"/>
                  <a:pt x="21141" y="91143"/>
                  <a:pt x="22956" y="96762"/>
                </a:cubicBezTo>
                <a:lnTo>
                  <a:pt x="73781" y="96762"/>
                </a:lnTo>
                <a:close/>
                <a:moveTo>
                  <a:pt x="72571" y="108857"/>
                </a:moveTo>
                <a:lnTo>
                  <a:pt x="24190" y="108857"/>
                </a:lnTo>
                <a:lnTo>
                  <a:pt x="24190" y="112889"/>
                </a:lnTo>
                <a:cubicBezTo>
                  <a:pt x="24190" y="124027"/>
                  <a:pt x="33212" y="133048"/>
                  <a:pt x="44349" y="133048"/>
                </a:cubicBezTo>
                <a:lnTo>
                  <a:pt x="52413" y="133048"/>
                </a:lnTo>
                <a:cubicBezTo>
                  <a:pt x="63550" y="133048"/>
                  <a:pt x="72571" y="124027"/>
                  <a:pt x="72571" y="112889"/>
                </a:cubicBezTo>
                <a:lnTo>
                  <a:pt x="72571" y="108857"/>
                </a:lnTo>
                <a:close/>
                <a:moveTo>
                  <a:pt x="46365" y="28222"/>
                </a:moveTo>
                <a:cubicBezTo>
                  <a:pt x="36336" y="28222"/>
                  <a:pt x="28222" y="36336"/>
                  <a:pt x="28222" y="46365"/>
                </a:cubicBezTo>
                <a:cubicBezTo>
                  <a:pt x="28222" y="49716"/>
                  <a:pt x="25526" y="52413"/>
                  <a:pt x="22175" y="52413"/>
                </a:cubicBezTo>
                <a:cubicBezTo>
                  <a:pt x="18823" y="52413"/>
                  <a:pt x="16127" y="49716"/>
                  <a:pt x="16127" y="46365"/>
                </a:cubicBezTo>
                <a:cubicBezTo>
                  <a:pt x="16127" y="29659"/>
                  <a:pt x="29659" y="16127"/>
                  <a:pt x="46365" y="16127"/>
                </a:cubicBezTo>
                <a:cubicBezTo>
                  <a:pt x="49716" y="16127"/>
                  <a:pt x="52413" y="18823"/>
                  <a:pt x="52413" y="22175"/>
                </a:cubicBezTo>
                <a:cubicBezTo>
                  <a:pt x="52413" y="25526"/>
                  <a:pt x="49716" y="28222"/>
                  <a:pt x="46365" y="28222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98575" y="6045315"/>
            <a:ext cx="1111559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Practices:</a:t>
            </a:r>
            <a:r>
              <a:rPr lang="en-US" sz="101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backup before updates. Test restore procedures regularly. Document volume purposes with labels. Use consistent naming conventions. Automate backups with cron jobs.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23f7329a1dceb4bdf64a093ecd63cd4894f115b7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36" r="3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F2937">
                  <a:alpha val="98000"/>
                </a:srgbClr>
              </a:gs>
              <a:gs pos="50000">
                <a:srgbClr val="1F293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19526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4405" y="2105025"/>
            <a:ext cx="48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526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81000" y="294322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Best Practices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 Cleanup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600575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guidelines for volume management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3400" y="438150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 Management Best Practices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5619750" cy="1295400"/>
          </a:xfrm>
          <a:custGeom>
            <a:avLst/>
            <a:gdLst/>
            <a:ahLst/>
            <a:cxnLst/>
            <a:rect l="l" t="t" r="r" b="b"/>
            <a:pathLst>
              <a:path w="5619750" h="1295400">
                <a:moveTo>
                  <a:pt x="0" y="0"/>
                </a:moveTo>
                <a:lnTo>
                  <a:pt x="5619750" y="0"/>
                </a:lnTo>
                <a:lnTo>
                  <a:pt x="5619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1811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14350" y="1295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674" y="28575"/>
                </a:moveTo>
                <a:lnTo>
                  <a:pt x="9674" y="73075"/>
                </a:lnTo>
                <a:cubicBezTo>
                  <a:pt x="9674" y="78135"/>
                  <a:pt x="11668" y="82987"/>
                  <a:pt x="15240" y="86558"/>
                </a:cubicBezTo>
                <a:lnTo>
                  <a:pt x="72390" y="143708"/>
                </a:lnTo>
                <a:cubicBezTo>
                  <a:pt x="79831" y="151150"/>
                  <a:pt x="91886" y="151150"/>
                  <a:pt x="99328" y="143708"/>
                </a:cubicBezTo>
                <a:lnTo>
                  <a:pt x="143828" y="99209"/>
                </a:lnTo>
                <a:cubicBezTo>
                  <a:pt x="151269" y="91767"/>
                  <a:pt x="151269" y="79712"/>
                  <a:pt x="143828" y="72271"/>
                </a:cubicBezTo>
                <a:lnTo>
                  <a:pt x="86678" y="15121"/>
                </a:lnTo>
                <a:cubicBezTo>
                  <a:pt x="83106" y="11519"/>
                  <a:pt x="78284" y="9525"/>
                  <a:pt x="73223" y="9525"/>
                </a:cubicBezTo>
                <a:lnTo>
                  <a:pt x="28724" y="9525"/>
                </a:lnTo>
                <a:cubicBezTo>
                  <a:pt x="18217" y="9525"/>
                  <a:pt x="9674" y="18068"/>
                  <a:pt x="9674" y="28575"/>
                </a:cubicBezTo>
                <a:close/>
                <a:moveTo>
                  <a:pt x="43011" y="33338"/>
                </a:moveTo>
                <a:cubicBezTo>
                  <a:pt x="48268" y="33338"/>
                  <a:pt x="52536" y="37606"/>
                  <a:pt x="52536" y="42863"/>
                </a:cubicBezTo>
                <a:cubicBezTo>
                  <a:pt x="52536" y="48119"/>
                  <a:pt x="48268" y="52388"/>
                  <a:pt x="43011" y="52388"/>
                </a:cubicBezTo>
                <a:cubicBezTo>
                  <a:pt x="37754" y="52388"/>
                  <a:pt x="33486" y="48119"/>
                  <a:pt x="33486" y="42863"/>
                </a:cubicBezTo>
                <a:cubicBezTo>
                  <a:pt x="33486" y="37606"/>
                  <a:pt x="37754" y="33338"/>
                  <a:pt x="43011" y="33338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2573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Naming and Organization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300" y="15240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descriptive names: </a:t>
            </a:r>
            <a:r>
              <a:rPr lang="en-US" sz="900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postgres_data_prod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300" y="17526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Include environment in name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300" y="19812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Label volumes with metadata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300" y="22098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Separate data by lifecycle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552700"/>
            <a:ext cx="5619750" cy="1295400"/>
          </a:xfrm>
          <a:custGeom>
            <a:avLst/>
            <a:gdLst/>
            <a:ahLst/>
            <a:cxnLst/>
            <a:rect l="l" t="t" r="r" b="b"/>
            <a:pathLst>
              <a:path w="5619750" h="1295400">
                <a:moveTo>
                  <a:pt x="0" y="0"/>
                </a:moveTo>
                <a:lnTo>
                  <a:pt x="5619750" y="0"/>
                </a:lnTo>
                <a:lnTo>
                  <a:pt x="5619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00050" y="25527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14350" y="2667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26289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5300" y="28956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read-only mounts when possible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5300" y="31242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Handle permissions with UID/GID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5300" y="33528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bind mounts in production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5300" y="35814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Encrypt sensitive data volumes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3924300"/>
            <a:ext cx="5619750" cy="1295400"/>
          </a:xfrm>
          <a:custGeom>
            <a:avLst/>
            <a:gdLst/>
            <a:ahLst/>
            <a:cxnLst/>
            <a:rect l="l" t="t" r="r" b="b"/>
            <a:pathLst>
              <a:path w="5619750" h="1295400">
                <a:moveTo>
                  <a:pt x="0" y="0"/>
                </a:moveTo>
                <a:lnTo>
                  <a:pt x="5619750" y="0"/>
                </a:lnTo>
                <a:lnTo>
                  <a:pt x="5619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00050" y="39243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4350" y="4038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" y="40005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5300" y="42672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usage: </a:t>
            </a:r>
            <a:r>
              <a:rPr lang="en-US" sz="900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docker system df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5300" y="44958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Set up alerts for disk space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5300" y="47244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Track volume growth over time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5300" y="49530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volume purposes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1181100"/>
            <a:ext cx="5619750" cy="1295400"/>
          </a:xfrm>
          <a:custGeom>
            <a:avLst/>
            <a:gdLst/>
            <a:ahLst/>
            <a:cxnLst/>
            <a:rect l="l" t="t" r="r" b="b"/>
            <a:pathLst>
              <a:path w="5619750" h="1295400">
                <a:moveTo>
                  <a:pt x="0" y="0"/>
                </a:moveTo>
                <a:lnTo>
                  <a:pt x="5619750" y="0"/>
                </a:lnTo>
                <a:lnTo>
                  <a:pt x="5619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91250" y="11811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296025" y="1295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68652" y="16252"/>
                </a:moveTo>
                <a:cubicBezTo>
                  <a:pt x="172373" y="12531"/>
                  <a:pt x="172373" y="6489"/>
                  <a:pt x="168652" y="2768"/>
                </a:cubicBezTo>
                <a:cubicBezTo>
                  <a:pt x="164931" y="-952"/>
                  <a:pt x="158889" y="-952"/>
                  <a:pt x="155168" y="2768"/>
                </a:cubicBezTo>
                <a:lnTo>
                  <a:pt x="98018" y="59918"/>
                </a:lnTo>
                <a:lnTo>
                  <a:pt x="87690" y="49590"/>
                </a:lnTo>
                <a:cubicBezTo>
                  <a:pt x="86439" y="48339"/>
                  <a:pt x="84713" y="47625"/>
                  <a:pt x="82927" y="47625"/>
                </a:cubicBezTo>
                <a:cubicBezTo>
                  <a:pt x="79206" y="47625"/>
                  <a:pt x="76200" y="50631"/>
                  <a:pt x="76200" y="54352"/>
                </a:cubicBezTo>
                <a:lnTo>
                  <a:pt x="76200" y="63014"/>
                </a:lnTo>
                <a:lnTo>
                  <a:pt x="108436" y="95250"/>
                </a:lnTo>
                <a:lnTo>
                  <a:pt x="117098" y="95250"/>
                </a:lnTo>
                <a:cubicBezTo>
                  <a:pt x="120819" y="95250"/>
                  <a:pt x="123825" y="92244"/>
                  <a:pt x="123825" y="88523"/>
                </a:cubicBezTo>
                <a:cubicBezTo>
                  <a:pt x="123825" y="86737"/>
                  <a:pt x="123111" y="85011"/>
                  <a:pt x="121860" y="83760"/>
                </a:cubicBezTo>
                <a:lnTo>
                  <a:pt x="111532" y="73432"/>
                </a:lnTo>
                <a:lnTo>
                  <a:pt x="168682" y="16282"/>
                </a:lnTo>
                <a:close/>
                <a:moveTo>
                  <a:pt x="101531" y="105192"/>
                </a:moveTo>
                <a:lnTo>
                  <a:pt x="66258" y="69919"/>
                </a:lnTo>
                <a:cubicBezTo>
                  <a:pt x="53548" y="68818"/>
                  <a:pt x="40898" y="73402"/>
                  <a:pt x="31790" y="82510"/>
                </a:cubicBezTo>
                <a:lnTo>
                  <a:pt x="29408" y="84892"/>
                </a:lnTo>
                <a:cubicBezTo>
                  <a:pt x="22771" y="91529"/>
                  <a:pt x="19050" y="100519"/>
                  <a:pt x="19050" y="109895"/>
                </a:cubicBezTo>
                <a:cubicBezTo>
                  <a:pt x="19050" y="111919"/>
                  <a:pt x="21163" y="113228"/>
                  <a:pt x="22979" y="112335"/>
                </a:cubicBezTo>
                <a:lnTo>
                  <a:pt x="38189" y="104745"/>
                </a:lnTo>
                <a:cubicBezTo>
                  <a:pt x="39678" y="104001"/>
                  <a:pt x="41017" y="105966"/>
                  <a:pt x="39797" y="107097"/>
                </a:cubicBezTo>
                <a:lnTo>
                  <a:pt x="2173" y="140910"/>
                </a:lnTo>
                <a:cubicBezTo>
                  <a:pt x="804" y="142161"/>
                  <a:pt x="0" y="143947"/>
                  <a:pt x="0" y="145822"/>
                </a:cubicBezTo>
                <a:cubicBezTo>
                  <a:pt x="0" y="149453"/>
                  <a:pt x="2947" y="152400"/>
                  <a:pt x="6578" y="152400"/>
                </a:cubicBezTo>
                <a:lnTo>
                  <a:pt x="58162" y="152400"/>
                </a:lnTo>
                <a:cubicBezTo>
                  <a:pt x="69711" y="152400"/>
                  <a:pt x="80754" y="147816"/>
                  <a:pt x="88940" y="139660"/>
                </a:cubicBezTo>
                <a:cubicBezTo>
                  <a:pt x="98048" y="130552"/>
                  <a:pt x="102602" y="117902"/>
                  <a:pt x="101531" y="105192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77000" y="12573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Cleanup and Maintenance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86500" y="15240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Regular cleanup: </a:t>
            </a:r>
            <a:r>
              <a:rPr lang="en-US" sz="900" dirty="0">
                <a:solidFill>
                  <a:srgbClr val="1F2937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prune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86500" y="17526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Remove unused volumes weekly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86500" y="19812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anonymous volumes in prod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86500" y="22098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Archive old data before deletion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1250" y="2552700"/>
            <a:ext cx="5619750" cy="1295400"/>
          </a:xfrm>
          <a:custGeom>
            <a:avLst/>
            <a:gdLst/>
            <a:ahLst/>
            <a:cxnLst/>
            <a:rect l="l" t="t" r="r" b="b"/>
            <a:pathLst>
              <a:path w="5619750" h="1295400">
                <a:moveTo>
                  <a:pt x="0" y="0"/>
                </a:moveTo>
                <a:lnTo>
                  <a:pt x="5619750" y="0"/>
                </a:lnTo>
                <a:lnTo>
                  <a:pt x="5619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191250" y="25527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315075" y="2667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77000" y="26289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Protection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86500" y="28956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Backup before updates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86500" y="31242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Test restore procedures monthly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86500" y="33528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volume labels for backup policy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86500" y="35814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Keep multiple backup copies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1250" y="3924300"/>
            <a:ext cx="5619750" cy="1524000"/>
          </a:xfrm>
          <a:custGeom>
            <a:avLst/>
            <a:gdLst/>
            <a:ahLst/>
            <a:cxnLst/>
            <a:rect l="l" t="t" r="r" b="b"/>
            <a:pathLst>
              <a:path w="5619750" h="1524000">
                <a:moveTo>
                  <a:pt x="0" y="0"/>
                </a:moveTo>
                <a:lnTo>
                  <a:pt x="5619750" y="0"/>
                </a:lnTo>
                <a:lnTo>
                  <a:pt x="56197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191250" y="39243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324600" y="4038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477000" y="40005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Production Checklist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86500" y="42672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All volumes are named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86500" y="44958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Labels document purpose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86500" y="47244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Backup strategy in place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86500" y="49530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Monitoring configured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86500" y="5181600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Cleanup schedule established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1000" y="5524500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0" y="0"/>
                </a:moveTo>
                <a:lnTo>
                  <a:pt x="11430000" y="0"/>
                </a:lnTo>
                <a:lnTo>
                  <a:pt x="11430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5300" y="5638800"/>
            <a:ext cx="631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Quick Reference Commands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95300" y="5943600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FAF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 volumes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95300" y="6121403"/>
            <a:ext cx="1157883" cy="215900"/>
          </a:xfrm>
          <a:custGeom>
            <a:avLst/>
            <a:gdLst/>
            <a:ahLst/>
            <a:cxnLst/>
            <a:rect l="l" t="t" r="r" b="b"/>
            <a:pathLst>
              <a:path w="1157883" h="215900">
                <a:moveTo>
                  <a:pt x="38100" y="0"/>
                </a:moveTo>
                <a:lnTo>
                  <a:pt x="1119783" y="0"/>
                </a:lnTo>
                <a:cubicBezTo>
                  <a:pt x="1140825" y="0"/>
                  <a:pt x="1157883" y="17058"/>
                  <a:pt x="1157883" y="38100"/>
                </a:cubicBezTo>
                <a:lnTo>
                  <a:pt x="1157883" y="177800"/>
                </a:lnTo>
                <a:cubicBezTo>
                  <a:pt x="1157883" y="198842"/>
                  <a:pt x="1140825" y="215900"/>
                  <a:pt x="1119783" y="215900"/>
                </a:cubicBezTo>
                <a:lnTo>
                  <a:pt x="38100" y="215900"/>
                </a:lnTo>
                <a:cubicBezTo>
                  <a:pt x="17058" y="215900"/>
                  <a:pt x="0" y="198842"/>
                  <a:pt x="0" y="177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9FAF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95300" y="6121403"/>
            <a:ext cx="1215033" cy="21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FA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ls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2081709" y="5943600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FAF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Inspect volume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2081709" y="6121403"/>
            <a:ext cx="1472109" cy="215900"/>
          </a:xfrm>
          <a:custGeom>
            <a:avLst/>
            <a:gdLst/>
            <a:ahLst/>
            <a:cxnLst/>
            <a:rect l="l" t="t" r="r" b="b"/>
            <a:pathLst>
              <a:path w="1472109" h="215900">
                <a:moveTo>
                  <a:pt x="38100" y="0"/>
                </a:moveTo>
                <a:lnTo>
                  <a:pt x="1434009" y="0"/>
                </a:lnTo>
                <a:cubicBezTo>
                  <a:pt x="1455051" y="0"/>
                  <a:pt x="1472109" y="17058"/>
                  <a:pt x="1472109" y="38100"/>
                </a:cubicBezTo>
                <a:lnTo>
                  <a:pt x="1472109" y="177800"/>
                </a:lnTo>
                <a:cubicBezTo>
                  <a:pt x="1472109" y="198842"/>
                  <a:pt x="1455051" y="215900"/>
                  <a:pt x="1434009" y="215900"/>
                </a:cubicBezTo>
                <a:lnTo>
                  <a:pt x="38100" y="215900"/>
                </a:lnTo>
                <a:cubicBezTo>
                  <a:pt x="17058" y="215900"/>
                  <a:pt x="0" y="198842"/>
                  <a:pt x="0" y="177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9FAF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2081709" y="6121403"/>
            <a:ext cx="1529259" cy="21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FA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inspect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668117" y="5943600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FAF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Prune unused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668117" y="6121403"/>
            <a:ext cx="1346498" cy="215900"/>
          </a:xfrm>
          <a:custGeom>
            <a:avLst/>
            <a:gdLst/>
            <a:ahLst/>
            <a:cxnLst/>
            <a:rect l="l" t="t" r="r" b="b"/>
            <a:pathLst>
              <a:path w="1346498" h="215900">
                <a:moveTo>
                  <a:pt x="38100" y="0"/>
                </a:moveTo>
                <a:lnTo>
                  <a:pt x="1308398" y="0"/>
                </a:lnTo>
                <a:cubicBezTo>
                  <a:pt x="1329440" y="0"/>
                  <a:pt x="1346498" y="17058"/>
                  <a:pt x="1346498" y="38100"/>
                </a:cubicBezTo>
                <a:lnTo>
                  <a:pt x="1346498" y="177800"/>
                </a:lnTo>
                <a:cubicBezTo>
                  <a:pt x="1346498" y="198842"/>
                  <a:pt x="1329440" y="215900"/>
                  <a:pt x="1308398" y="215900"/>
                </a:cubicBezTo>
                <a:lnTo>
                  <a:pt x="38100" y="215900"/>
                </a:lnTo>
                <a:cubicBezTo>
                  <a:pt x="17058" y="215900"/>
                  <a:pt x="0" y="198842"/>
                  <a:pt x="0" y="177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9FAF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668117" y="6121403"/>
            <a:ext cx="1403648" cy="21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FA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volume prune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254526" y="5943600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FAF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usage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254526" y="6121403"/>
            <a:ext cx="1157883" cy="215900"/>
          </a:xfrm>
          <a:custGeom>
            <a:avLst/>
            <a:gdLst/>
            <a:ahLst/>
            <a:cxnLst/>
            <a:rect l="l" t="t" r="r" b="b"/>
            <a:pathLst>
              <a:path w="1157883" h="215900">
                <a:moveTo>
                  <a:pt x="38100" y="0"/>
                </a:moveTo>
                <a:lnTo>
                  <a:pt x="1119783" y="0"/>
                </a:lnTo>
                <a:cubicBezTo>
                  <a:pt x="1140825" y="0"/>
                  <a:pt x="1157883" y="17058"/>
                  <a:pt x="1157883" y="38100"/>
                </a:cubicBezTo>
                <a:lnTo>
                  <a:pt x="1157883" y="177800"/>
                </a:lnTo>
                <a:cubicBezTo>
                  <a:pt x="1157883" y="198842"/>
                  <a:pt x="1140825" y="215900"/>
                  <a:pt x="1119783" y="215900"/>
                </a:cubicBezTo>
                <a:lnTo>
                  <a:pt x="38100" y="215900"/>
                </a:lnTo>
                <a:cubicBezTo>
                  <a:pt x="17058" y="215900"/>
                  <a:pt x="0" y="198842"/>
                  <a:pt x="0" y="177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9FAF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5254526" y="6121403"/>
            <a:ext cx="1215033" cy="2159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FA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system df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1747</TotalTime>
  <Words>3055</Words>
  <Application>Microsoft Office PowerPoint</Application>
  <PresentationFormat>Widescreen</PresentationFormat>
  <Paragraphs>620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Sorts Mill Goudy</vt:lpstr>
      <vt:lpstr>MiSans</vt:lpstr>
      <vt:lpstr>微软雅黑</vt:lpstr>
      <vt:lpstr>Quattrocento Sans</vt:lpstr>
      <vt:lpstr>Courier New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Volumes: A Comprehensive Technical Guide</dc:title>
  <dc:subject>Docker Volumes: A Comprehensive Technical Guide</dc:subject>
  <dc:creator>Kimi</dc:creator>
  <cp:lastModifiedBy>Jayabaaskar Baskaran(UST,IN)</cp:lastModifiedBy>
  <cp:revision>7</cp:revision>
  <dcterms:created xsi:type="dcterms:W3CDTF">2026-03-03T16:04:17Z</dcterms:created>
  <dcterms:modified xsi:type="dcterms:W3CDTF">2026-03-08T09:11:01Z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{"Label":"Docker Volumes: A Comprehensive Technical Guide","ContentProducer":"001191110108MACG2KBH8F10000","ProduceID":"19cb46d3-ba52-8315-8000-00005bd55ae7","ReservedCode1":"","ContentPropagator":"001191110108MACG2KBH8F20000","PropagateID":"19cb46d3-ba52-8315-8000-00005bd55ae7","ReservedCode2":""}</vt:lpwstr>
  </property>
  <property fmtid="{D5CDD505-2E9C-101B-9397-08002B2CF9AE}" pid="3" name="MSIP_Label_15ffddfa-74ad-4c1f-9757-a38a11902f1c_Enabled">
    <vt:lpwstr>true</vt:lpwstr>
  </property>
  <property fmtid="{D5CDD505-2E9C-101B-9397-08002B2CF9AE}" pid="4" name="MSIP_Label_15ffddfa-74ad-4c1f-9757-a38a11902f1c_SetDate">
    <vt:lpwstr>2026-03-04T05:02:32Z</vt:lpwstr>
  </property>
  <property fmtid="{D5CDD505-2E9C-101B-9397-08002B2CF9AE}" pid="5" name="MSIP_Label_15ffddfa-74ad-4c1f-9757-a38a11902f1c_Method">
    <vt:lpwstr>Standard</vt:lpwstr>
  </property>
  <property fmtid="{D5CDD505-2E9C-101B-9397-08002B2CF9AE}" pid="6" name="MSIP_Label_15ffddfa-74ad-4c1f-9757-a38a11902f1c_Name">
    <vt:lpwstr>UST Internal</vt:lpwstr>
  </property>
  <property fmtid="{D5CDD505-2E9C-101B-9397-08002B2CF9AE}" pid="7" name="MSIP_Label_15ffddfa-74ad-4c1f-9757-a38a11902f1c_SiteId">
    <vt:lpwstr>a4431f4b-c207-4733-9530-34c08a9b2b8d</vt:lpwstr>
  </property>
  <property fmtid="{D5CDD505-2E9C-101B-9397-08002B2CF9AE}" pid="8" name="MSIP_Label_15ffddfa-74ad-4c1f-9757-a38a11902f1c_ActionId">
    <vt:lpwstr>1bfb2c4b-e818-4d5a-98f0-49a4de47b2ac</vt:lpwstr>
  </property>
  <property fmtid="{D5CDD505-2E9C-101B-9397-08002B2CF9AE}" pid="9" name="MSIP_Label_15ffddfa-74ad-4c1f-9757-a38a11902f1c_ContentBits">
    <vt:lpwstr>0</vt:lpwstr>
  </property>
  <property fmtid="{D5CDD505-2E9C-101B-9397-08002B2CF9AE}" pid="10" name="MSIP_Label_15ffddfa-74ad-4c1f-9757-a38a11902f1c_Tag">
    <vt:lpwstr>10, 3, 0, 1</vt:lpwstr>
  </property>
</Properties>
</file>